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Consolas" panose="020B0609020204030204" pitchFamily="49" charset="0"/>
      <p:regular r:id="rId12"/>
      <p:bold r:id="rId13"/>
      <p:italic r:id="rId14"/>
      <p:boldItalic r:id="rId15"/>
    </p:embeddedFont>
    <p:embeddedFont>
      <p:font typeface="Raleway" pitchFamily="2" charset="0"/>
      <p:regular r:id="rId16"/>
    </p:embeddedFont>
    <p:embeddedFont>
      <p:font typeface="Roboto" panose="02000000000000000000" pitchFamily="2" charset="0"/>
      <p:regular r:id="rId17"/>
    </p:embeddedFont>
    <p:embeddedFont>
      <p:font typeface="Roboto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A074C3-AA11-48DD-9693-B7EEF1FFEC54}" v="1" dt="2026-08-26T04:37:14.3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0" d="100"/>
          <a:sy n="90" d="100"/>
        </p:scale>
        <p:origin x="1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4.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hwik Vithanala" userId="0791cb0d5809a08a" providerId="LiveId" clId="{655592FB-8303-4B30-8476-D99E289E2B0A}"/>
    <pc:docChg chg="custSel modSld">
      <pc:chgData name="Sathwik Vithanala" userId="0791cb0d5809a08a" providerId="LiveId" clId="{655592FB-8303-4B30-8476-D99E289E2B0A}" dt="2026-08-26T04:37:21.501" v="3"/>
      <pc:docMkLst>
        <pc:docMk/>
      </pc:docMkLst>
      <pc:sldChg chg="addSp delSp modSp mod">
        <pc:chgData name="Sathwik Vithanala" userId="0791cb0d5809a08a" providerId="LiveId" clId="{655592FB-8303-4B30-8476-D99E289E2B0A}" dt="2026-08-26T04:37:21.501" v="3"/>
        <pc:sldMkLst>
          <pc:docMk/>
          <pc:sldMk cId="0" sldId="261"/>
        </pc:sldMkLst>
        <pc:spChg chg="mod">
          <ac:chgData name="Sathwik Vithanala" userId="0791cb0d5809a08a" providerId="LiveId" clId="{655592FB-8303-4B30-8476-D99E289E2B0A}" dt="2026-08-26T04:37:14.401" v="1" actId="27636"/>
          <ac:spMkLst>
            <pc:docMk/>
            <pc:sldMk cId="0" sldId="261"/>
            <ac:spMk id="5" creationId="{00000000-0000-0000-0000-000000000000}"/>
          </ac:spMkLst>
        </pc:spChg>
        <pc:spChg chg="add del mod">
          <ac:chgData name="Sathwik Vithanala" userId="0791cb0d5809a08a" providerId="LiveId" clId="{655592FB-8303-4B30-8476-D99E289E2B0A}" dt="2026-08-26T04:37:21.501" v="3"/>
          <ac:spMkLst>
            <pc:docMk/>
            <pc:sldMk cId="0" sldId="261"/>
            <ac:spMk id="10" creationId="{28AAEAC1-D717-50F9-0E98-B270E78CDC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1714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txBody>
          <a:bodyPr/>
          <a:lstStyle/>
          <a:p>
            <a:endParaRPr lang="en-IN"/>
          </a:p>
        </p:txBody>
      </p:sp>
      <p:sp>
        <p:nvSpPr>
          <p:cNvPr id="3" name="Shape 1"/>
          <p:cNvSpPr/>
          <p:nvPr/>
        </p:nvSpPr>
        <p:spPr>
          <a:xfrm>
            <a:off x="0" y="0"/>
            <a:ext cx="12191695" cy="6858000"/>
          </a:xfrm>
          <a:prstGeom prst="rect">
            <a:avLst/>
          </a:prstGeom>
          <a:solidFill>
            <a:srgbClr val="FFFFFF">
              <a:alpha val="95000"/>
            </a:srgbClr>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E1E1EA"/>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7714263" y="506909"/>
            <a:ext cx="4382879" cy="5844084"/>
          </a:xfrm>
          <a:prstGeom prst="rect">
            <a:avLst/>
          </a:prstGeom>
        </p:spPr>
      </p:pic>
      <p:sp>
        <p:nvSpPr>
          <p:cNvPr id="4" name="Text 1"/>
          <p:cNvSpPr/>
          <p:nvPr/>
        </p:nvSpPr>
        <p:spPr>
          <a:xfrm>
            <a:off x="661475" y="1925042"/>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Naive vs KMP String Matching for Log File Search</a:t>
            </a:r>
            <a:endParaRPr lang="en-US" sz="3700" dirty="0"/>
          </a:p>
        </p:txBody>
      </p:sp>
      <p:sp>
        <p:nvSpPr>
          <p:cNvPr id="5" name="Text 2"/>
          <p:cNvSpPr/>
          <p:nvPr/>
        </p:nvSpPr>
        <p:spPr>
          <a:xfrm>
            <a:off x="661475" y="3389809"/>
            <a:ext cx="629686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A deep dive into algorithm efficiency — from brute force to elegant optimization.</a:t>
            </a:r>
            <a:endParaRPr lang="en-US" sz="1450" dirty="0"/>
          </a:p>
        </p:txBody>
      </p:sp>
      <p:sp>
        <p:nvSpPr>
          <p:cNvPr id="6" name="Text 3"/>
          <p:cNvSpPr/>
          <p:nvPr/>
        </p:nvSpPr>
        <p:spPr>
          <a:xfrm>
            <a:off x="661475" y="4207272"/>
            <a:ext cx="6296860" cy="725686"/>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6B7280"/>
                </a:solidFill>
                <a:latin typeface="Roboto" pitchFamily="34" charset="0"/>
                <a:ea typeface="Roboto" pitchFamily="34" charset="-122"/>
                <a:cs typeface="Roboto" pitchFamily="34" charset="-120"/>
              </a:rPr>
              <a:t>Name: Sathwik Vithanala</a:t>
            </a:r>
            <a:endParaRPr lang="en-US" sz="1150" dirty="0"/>
          </a:p>
          <a:p>
            <a:pPr marL="0" indent="0" algn="l">
              <a:lnSpc>
                <a:spcPct val="133000"/>
              </a:lnSpc>
              <a:buNone/>
            </a:pPr>
            <a:r>
              <a:rPr lang="en-US" sz="1150" dirty="0">
                <a:solidFill>
                  <a:srgbClr val="6B7280"/>
                </a:solidFill>
                <a:latin typeface="Roboto" pitchFamily="34" charset="0"/>
                <a:ea typeface="Roboto" pitchFamily="34" charset="-122"/>
                <a:cs typeface="Roboto" pitchFamily="34" charset="-120"/>
              </a:rPr>
              <a:t>Roll no: 25WU0102302</a:t>
            </a:r>
            <a:endParaRPr lang="en-US" sz="1150" dirty="0"/>
          </a:p>
          <a:p>
            <a:pPr marL="0" indent="0" algn="l">
              <a:lnSpc>
                <a:spcPct val="133000"/>
              </a:lnSpc>
              <a:buNone/>
            </a:pPr>
            <a:r>
              <a:rPr lang="en-US" sz="1150" dirty="0">
                <a:solidFill>
                  <a:srgbClr val="6B7280"/>
                </a:solidFill>
                <a:latin typeface="Roboto" pitchFamily="34" charset="0"/>
                <a:ea typeface="Roboto" pitchFamily="34" charset="-122"/>
                <a:cs typeface="Roboto" pitchFamily="34" charset="-120"/>
              </a:rPr>
              <a:t>Class: AIML WOLVES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840780"/>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Objectives</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809452"/>
            <a:ext cx="5339820" cy="2009378"/>
          </a:xfrm>
          <a:prstGeom prst="rect">
            <a:avLst/>
          </a:prstGeom>
        </p:spPr>
      </p:pic>
      <p:sp>
        <p:nvSpPr>
          <p:cNvPr id="4" name="Text 1"/>
          <p:cNvSpPr/>
          <p:nvPr/>
        </p:nvSpPr>
        <p:spPr>
          <a:xfrm>
            <a:off x="3189605" y="1937941"/>
            <a:ext cx="283461" cy="354409"/>
          </a:xfrm>
          <a:prstGeom prst="rect">
            <a:avLst/>
          </a:prstGeom>
          <a:noFill/>
          <a:ln/>
        </p:spPr>
        <p:txBody>
          <a:bodyPr wrap="none" lIns="0" tIns="0" rIns="0" bIns="0" rtlCol="0" anchor="ctr"/>
          <a:lstStyle/>
          <a:p>
            <a:pPr marL="0" indent="0" algn="ctr">
              <a:lnSpc>
                <a:spcPct val="100000"/>
              </a:lnSpc>
              <a:buNone/>
            </a:pPr>
            <a:r>
              <a:rPr lang="en-US" sz="2200" dirty="0">
                <a:solidFill>
                  <a:srgbClr val="3C3939"/>
                </a:solidFill>
                <a:latin typeface="Raleway" pitchFamily="34" charset="0"/>
                <a:ea typeface="Raleway" pitchFamily="34" charset="-122"/>
                <a:cs typeface="Raleway" pitchFamily="34" charset="-120"/>
              </a:rPr>
              <a:t>1</a:t>
            </a:r>
            <a:endParaRPr lang="en-US" sz="2200" dirty="0"/>
          </a:p>
        </p:txBody>
      </p:sp>
      <p:sp>
        <p:nvSpPr>
          <p:cNvPr id="5" name="Text 2"/>
          <p:cNvSpPr/>
          <p:nvPr/>
        </p:nvSpPr>
        <p:spPr>
          <a:xfrm>
            <a:off x="875881" y="2590899"/>
            <a:ext cx="491100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Understand Naive Matching</a:t>
            </a:r>
            <a:endParaRPr lang="en-US" sz="1850" dirty="0"/>
          </a:p>
        </p:txBody>
      </p:sp>
      <p:sp>
        <p:nvSpPr>
          <p:cNvPr id="6" name="Text 3"/>
          <p:cNvSpPr/>
          <p:nvPr/>
        </p:nvSpPr>
        <p:spPr>
          <a:xfrm>
            <a:off x="875881" y="2999581"/>
            <a:ext cx="491100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Learn how the naive algorithm works and where it breaks down under pressure.</a:t>
            </a:r>
            <a:endParaRPr lang="en-US" sz="14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0301" y="1809452"/>
            <a:ext cx="5339919" cy="2009378"/>
          </a:xfrm>
          <a:prstGeom prst="rect">
            <a:avLst/>
          </a:prstGeom>
        </p:spPr>
      </p:pic>
      <p:sp>
        <p:nvSpPr>
          <p:cNvPr id="8" name="Text 4"/>
          <p:cNvSpPr/>
          <p:nvPr/>
        </p:nvSpPr>
        <p:spPr>
          <a:xfrm>
            <a:off x="8718530" y="1937941"/>
            <a:ext cx="283461" cy="354409"/>
          </a:xfrm>
          <a:prstGeom prst="rect">
            <a:avLst/>
          </a:prstGeom>
          <a:noFill/>
          <a:ln/>
        </p:spPr>
        <p:txBody>
          <a:bodyPr wrap="none" lIns="0" tIns="0" rIns="0" bIns="0" rtlCol="0" anchor="ctr"/>
          <a:lstStyle/>
          <a:p>
            <a:pPr marL="0" indent="0" algn="ctr">
              <a:lnSpc>
                <a:spcPct val="100000"/>
              </a:lnSpc>
              <a:buNone/>
            </a:pPr>
            <a:r>
              <a:rPr lang="en-US" sz="2200" dirty="0">
                <a:solidFill>
                  <a:srgbClr val="3C3939"/>
                </a:solidFill>
                <a:latin typeface="Raleway" pitchFamily="34" charset="0"/>
                <a:ea typeface="Raleway" pitchFamily="34" charset="-122"/>
                <a:cs typeface="Raleway" pitchFamily="34" charset="-120"/>
              </a:rPr>
              <a:t>2</a:t>
            </a:r>
            <a:endParaRPr lang="en-US" sz="2200" dirty="0"/>
          </a:p>
        </p:txBody>
      </p:sp>
      <p:sp>
        <p:nvSpPr>
          <p:cNvPr id="9" name="Text 5"/>
          <p:cNvSpPr/>
          <p:nvPr/>
        </p:nvSpPr>
        <p:spPr>
          <a:xfrm>
            <a:off x="6404708" y="2590899"/>
            <a:ext cx="4911106"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Master KMP's Insight</a:t>
            </a:r>
            <a:endParaRPr lang="en-US" sz="1850" dirty="0"/>
          </a:p>
        </p:txBody>
      </p:sp>
      <p:sp>
        <p:nvSpPr>
          <p:cNvPr id="10" name="Text 6"/>
          <p:cNvSpPr/>
          <p:nvPr/>
        </p:nvSpPr>
        <p:spPr>
          <a:xfrm>
            <a:off x="6404708" y="2999581"/>
            <a:ext cx="49111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Discover how the failure function eliminates wasted comparisons entirely.</a:t>
            </a:r>
            <a:endParaRPr lang="en-US" sz="14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007842"/>
            <a:ext cx="5339820" cy="2009378"/>
          </a:xfrm>
          <a:prstGeom prst="rect">
            <a:avLst/>
          </a:prstGeom>
        </p:spPr>
      </p:pic>
      <p:sp>
        <p:nvSpPr>
          <p:cNvPr id="12" name="Text 7"/>
          <p:cNvSpPr/>
          <p:nvPr/>
        </p:nvSpPr>
        <p:spPr>
          <a:xfrm>
            <a:off x="3189605" y="4136330"/>
            <a:ext cx="283461" cy="354409"/>
          </a:xfrm>
          <a:prstGeom prst="rect">
            <a:avLst/>
          </a:prstGeom>
          <a:noFill/>
          <a:ln/>
        </p:spPr>
        <p:txBody>
          <a:bodyPr wrap="none" lIns="0" tIns="0" rIns="0" bIns="0" rtlCol="0" anchor="ctr"/>
          <a:lstStyle/>
          <a:p>
            <a:pPr marL="0" indent="0" algn="ctr">
              <a:lnSpc>
                <a:spcPct val="100000"/>
              </a:lnSpc>
              <a:buNone/>
            </a:pPr>
            <a:r>
              <a:rPr lang="en-US" sz="2200" dirty="0">
                <a:solidFill>
                  <a:srgbClr val="3C3939"/>
                </a:solidFill>
                <a:latin typeface="Raleway" pitchFamily="34" charset="0"/>
                <a:ea typeface="Raleway" pitchFamily="34" charset="-122"/>
                <a:cs typeface="Raleway" pitchFamily="34" charset="-120"/>
              </a:rPr>
              <a:t>3</a:t>
            </a:r>
            <a:endParaRPr lang="en-US" sz="2200" dirty="0"/>
          </a:p>
        </p:txBody>
      </p:sp>
      <p:sp>
        <p:nvSpPr>
          <p:cNvPr id="13" name="Text 8"/>
          <p:cNvSpPr/>
          <p:nvPr/>
        </p:nvSpPr>
        <p:spPr>
          <a:xfrm>
            <a:off x="875881" y="4789289"/>
            <a:ext cx="491100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Compare Real Performance</a:t>
            </a:r>
            <a:endParaRPr lang="en-US" sz="1850" dirty="0"/>
          </a:p>
        </p:txBody>
      </p:sp>
      <p:sp>
        <p:nvSpPr>
          <p:cNvPr id="14" name="Text 9"/>
          <p:cNvSpPr/>
          <p:nvPr/>
        </p:nvSpPr>
        <p:spPr>
          <a:xfrm>
            <a:off x="875881" y="5197971"/>
            <a:ext cx="4911007"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Benchmark both algorithms against real log file scenarios with concrete numbers.</a:t>
            </a:r>
            <a:endParaRPr lang="en-US" sz="14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0301" y="4007842"/>
            <a:ext cx="5339919" cy="2009378"/>
          </a:xfrm>
          <a:prstGeom prst="rect">
            <a:avLst/>
          </a:prstGeom>
        </p:spPr>
      </p:pic>
      <p:sp>
        <p:nvSpPr>
          <p:cNvPr id="16" name="Text 10"/>
          <p:cNvSpPr/>
          <p:nvPr/>
        </p:nvSpPr>
        <p:spPr>
          <a:xfrm>
            <a:off x="8718530" y="4136330"/>
            <a:ext cx="283461" cy="354409"/>
          </a:xfrm>
          <a:prstGeom prst="rect">
            <a:avLst/>
          </a:prstGeom>
          <a:noFill/>
          <a:ln/>
        </p:spPr>
        <p:txBody>
          <a:bodyPr wrap="none" lIns="0" tIns="0" rIns="0" bIns="0" rtlCol="0" anchor="ctr"/>
          <a:lstStyle/>
          <a:p>
            <a:pPr marL="0" indent="0" algn="ctr">
              <a:lnSpc>
                <a:spcPct val="100000"/>
              </a:lnSpc>
              <a:buNone/>
            </a:pPr>
            <a:r>
              <a:rPr lang="en-US" sz="2200" dirty="0">
                <a:solidFill>
                  <a:srgbClr val="3C3939"/>
                </a:solidFill>
                <a:latin typeface="Raleway" pitchFamily="34" charset="0"/>
                <a:ea typeface="Raleway" pitchFamily="34" charset="-122"/>
                <a:cs typeface="Raleway" pitchFamily="34" charset="-120"/>
              </a:rPr>
              <a:t>4</a:t>
            </a:r>
            <a:endParaRPr lang="en-US" sz="2200" dirty="0"/>
          </a:p>
        </p:txBody>
      </p:sp>
      <p:sp>
        <p:nvSpPr>
          <p:cNvPr id="17" name="Text 11"/>
          <p:cNvSpPr/>
          <p:nvPr/>
        </p:nvSpPr>
        <p:spPr>
          <a:xfrm>
            <a:off x="6404708" y="4789289"/>
            <a:ext cx="4911106"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Apply the Right Tool</a:t>
            </a:r>
            <a:endParaRPr lang="en-US" sz="1850" dirty="0"/>
          </a:p>
        </p:txBody>
      </p:sp>
      <p:sp>
        <p:nvSpPr>
          <p:cNvPr id="18" name="Text 12"/>
          <p:cNvSpPr/>
          <p:nvPr/>
        </p:nvSpPr>
        <p:spPr>
          <a:xfrm>
            <a:off x="6404708" y="5197971"/>
            <a:ext cx="49111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Know exactly when to reach for naive, KMP, or something even faster.</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E1E1EA"/>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88600" y="499170"/>
            <a:ext cx="4394586" cy="5859661"/>
          </a:xfrm>
          <a:prstGeom prst="rect">
            <a:avLst/>
          </a:prstGeom>
        </p:spPr>
      </p:pic>
      <p:sp>
        <p:nvSpPr>
          <p:cNvPr id="4" name="Text 1"/>
          <p:cNvSpPr/>
          <p:nvPr/>
        </p:nvSpPr>
        <p:spPr>
          <a:xfrm>
            <a:off x="5233360" y="543719"/>
            <a:ext cx="6296860" cy="553740"/>
          </a:xfrm>
          <a:prstGeom prst="rect">
            <a:avLst/>
          </a:prstGeom>
          <a:noFill/>
          <a:ln/>
        </p:spPr>
        <p:txBody>
          <a:bodyPr wrap="none" lIns="0" tIns="0" rIns="0" bIns="0" rtlCol="0" anchor="t"/>
          <a:lstStyle/>
          <a:p>
            <a:pPr marL="0" indent="0" algn="l">
              <a:lnSpc>
                <a:spcPct val="104000"/>
              </a:lnSpc>
              <a:buNone/>
            </a:pPr>
            <a:r>
              <a:rPr lang="en-US" sz="3450" dirty="0">
                <a:solidFill>
                  <a:srgbClr val="1B1B27"/>
                </a:solidFill>
                <a:latin typeface="Raleway" pitchFamily="34" charset="0"/>
                <a:ea typeface="Raleway" pitchFamily="34" charset="-122"/>
                <a:cs typeface="Raleway" pitchFamily="34" charset="-120"/>
              </a:rPr>
              <a:t>The Problem Statement</a:t>
            </a:r>
            <a:endParaRPr lang="en-US" sz="3450" dirty="0"/>
          </a:p>
        </p:txBody>
      </p:sp>
      <p:sp>
        <p:nvSpPr>
          <p:cNvPr id="5" name="Text 2"/>
          <p:cNvSpPr/>
          <p:nvPr/>
        </p:nvSpPr>
        <p:spPr>
          <a:xfrm>
            <a:off x="5233360" y="1346597"/>
            <a:ext cx="6296860"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3C3939"/>
                </a:solidFill>
                <a:latin typeface="Roboto" pitchFamily="34" charset="0"/>
                <a:ea typeface="Roboto" pitchFamily="34" charset="-122"/>
                <a:cs typeface="Roboto" pitchFamily="34" charset="-120"/>
              </a:rPr>
              <a:t>Log files can be massive — gigabytes of data. Finding error patterns, warnings, or specific events requires fast string matching. A naive approach can take </a:t>
            </a:r>
            <a:r>
              <a:rPr lang="en-US" sz="1350" b="1" dirty="0">
                <a:solidFill>
                  <a:srgbClr val="3C3939"/>
                </a:solidFill>
                <a:latin typeface="Roboto Bold" pitchFamily="34" charset="0"/>
                <a:ea typeface="Roboto Bold" pitchFamily="34" charset="-122"/>
                <a:cs typeface="Roboto Bold" pitchFamily="34" charset="-120"/>
              </a:rPr>
              <a:t>hours</a:t>
            </a:r>
            <a:r>
              <a:rPr lang="en-US" sz="1350" dirty="0">
                <a:solidFill>
                  <a:srgbClr val="3C3939"/>
                </a:solidFill>
                <a:latin typeface="Roboto" pitchFamily="34" charset="0"/>
                <a:ea typeface="Roboto" pitchFamily="34" charset="-122"/>
                <a:cs typeface="Roboto" pitchFamily="34" charset="-120"/>
              </a:rPr>
              <a:t>; KMP can do it in </a:t>
            </a:r>
            <a:r>
              <a:rPr lang="en-US" sz="1350" b="1" dirty="0">
                <a:solidFill>
                  <a:srgbClr val="3C3939"/>
                </a:solidFill>
                <a:latin typeface="Roboto Bold" pitchFamily="34" charset="0"/>
                <a:ea typeface="Roboto Bold" pitchFamily="34" charset="-122"/>
                <a:cs typeface="Roboto Bold" pitchFamily="34" charset="-120"/>
              </a:rPr>
              <a:t>seconds</a:t>
            </a:r>
            <a:r>
              <a:rPr lang="en-US" sz="1350" dirty="0">
                <a:solidFill>
                  <a:srgbClr val="3C3939"/>
                </a:solidFill>
                <a:latin typeface="Roboto" pitchFamily="34" charset="0"/>
                <a:ea typeface="Roboto" pitchFamily="34" charset="-122"/>
                <a:cs typeface="Roboto" pitchFamily="34" charset="-120"/>
              </a:rPr>
              <a:t>.</a:t>
            </a:r>
            <a:endParaRPr lang="en-US" sz="1350" dirty="0"/>
          </a:p>
        </p:txBody>
      </p:sp>
      <p:sp>
        <p:nvSpPr>
          <p:cNvPr id="6" name="Text 3"/>
          <p:cNvSpPr/>
          <p:nvPr/>
        </p:nvSpPr>
        <p:spPr>
          <a:xfrm>
            <a:off x="5233360" y="2445941"/>
            <a:ext cx="3044550" cy="584795"/>
          </a:xfrm>
          <a:prstGeom prst="rect">
            <a:avLst/>
          </a:prstGeom>
          <a:noFill/>
          <a:ln/>
        </p:spPr>
        <p:txBody>
          <a:bodyPr wrap="none" lIns="0" tIns="0" rIns="0" bIns="0" rtlCol="0" anchor="t"/>
          <a:lstStyle/>
          <a:p>
            <a:pPr marL="0" indent="0" algn="ctr">
              <a:lnSpc>
                <a:spcPct val="83000"/>
              </a:lnSpc>
              <a:buNone/>
            </a:pPr>
            <a:r>
              <a:rPr lang="en-US" sz="4600" dirty="0">
                <a:solidFill>
                  <a:srgbClr val="3C3939"/>
                </a:solidFill>
                <a:latin typeface="Raleway" pitchFamily="34" charset="0"/>
                <a:ea typeface="Raleway" pitchFamily="34" charset="-122"/>
                <a:cs typeface="Raleway" pitchFamily="34" charset="-120"/>
              </a:rPr>
              <a:t>500MB</a:t>
            </a:r>
            <a:endParaRPr lang="en-US" sz="4600" dirty="0"/>
          </a:p>
        </p:txBody>
      </p:sp>
      <p:sp>
        <p:nvSpPr>
          <p:cNvPr id="7" name="Text 4"/>
          <p:cNvSpPr/>
          <p:nvPr/>
        </p:nvSpPr>
        <p:spPr>
          <a:xfrm>
            <a:off x="5233360" y="3243858"/>
            <a:ext cx="3044550" cy="276920"/>
          </a:xfrm>
          <a:prstGeom prst="rect">
            <a:avLst/>
          </a:prstGeom>
          <a:noFill/>
          <a:ln/>
        </p:spPr>
        <p:txBody>
          <a:bodyPr wrap="none" lIns="0" tIns="0" rIns="0" bIns="0" rtlCol="0" anchor="t"/>
          <a:lstStyle/>
          <a:p>
            <a:pPr marL="0" indent="0" algn="ctr">
              <a:lnSpc>
                <a:spcPct val="104000"/>
              </a:lnSpc>
              <a:buNone/>
            </a:pPr>
            <a:r>
              <a:rPr lang="en-US" sz="1700" dirty="0">
                <a:solidFill>
                  <a:srgbClr val="3C3939"/>
                </a:solidFill>
                <a:latin typeface="Raleway" pitchFamily="34" charset="0"/>
                <a:ea typeface="Raleway" pitchFamily="34" charset="-122"/>
                <a:cs typeface="Raleway" pitchFamily="34" charset="-120"/>
              </a:rPr>
              <a:t>Real Scenario</a:t>
            </a:r>
            <a:endParaRPr lang="en-US" sz="1700" dirty="0"/>
          </a:p>
        </p:txBody>
      </p:sp>
      <p:sp>
        <p:nvSpPr>
          <p:cNvPr id="8" name="Text 5"/>
          <p:cNvSpPr/>
          <p:nvPr/>
        </p:nvSpPr>
        <p:spPr>
          <a:xfrm>
            <a:off x="5233360" y="3620393"/>
            <a:ext cx="3044550" cy="549275"/>
          </a:xfrm>
          <a:prstGeom prst="rect">
            <a:avLst/>
          </a:prstGeom>
          <a:noFill/>
          <a:ln/>
        </p:spPr>
        <p:txBody>
          <a:bodyPr wrap="square" lIns="0" tIns="0" rIns="0" bIns="0" rtlCol="0" anchor="t">
            <a:normAutofit/>
          </a:bodyPr>
          <a:lstStyle/>
          <a:p>
            <a:pPr marL="0" indent="0" algn="ctr">
              <a:lnSpc>
                <a:spcPct val="129000"/>
              </a:lnSpc>
              <a:buNone/>
            </a:pPr>
            <a:r>
              <a:rPr lang="en-US" sz="1350" dirty="0">
                <a:solidFill>
                  <a:srgbClr val="3C3939"/>
                </a:solidFill>
                <a:latin typeface="Roboto" pitchFamily="34" charset="0"/>
                <a:ea typeface="Roboto" pitchFamily="34" charset="-122"/>
                <a:cs typeface="Roboto" pitchFamily="34" charset="-120"/>
              </a:rPr>
              <a:t>Searching for "ERROR: Connection timeout" in a production log file</a:t>
            </a:r>
            <a:endParaRPr lang="en-US" sz="1350" dirty="0"/>
          </a:p>
        </p:txBody>
      </p:sp>
      <p:sp>
        <p:nvSpPr>
          <p:cNvPr id="9" name="Text 6"/>
          <p:cNvSpPr/>
          <p:nvPr/>
        </p:nvSpPr>
        <p:spPr>
          <a:xfrm>
            <a:off x="8485571" y="2445941"/>
            <a:ext cx="3044650" cy="584795"/>
          </a:xfrm>
          <a:prstGeom prst="rect">
            <a:avLst/>
          </a:prstGeom>
          <a:noFill/>
          <a:ln/>
        </p:spPr>
        <p:txBody>
          <a:bodyPr wrap="none" lIns="0" tIns="0" rIns="0" bIns="0" rtlCol="0" anchor="t"/>
          <a:lstStyle/>
          <a:p>
            <a:pPr marL="0" indent="0" algn="ctr">
              <a:lnSpc>
                <a:spcPct val="83000"/>
              </a:lnSpc>
              <a:buNone/>
            </a:pPr>
            <a:r>
              <a:rPr lang="en-US" sz="4600" dirty="0">
                <a:solidFill>
                  <a:srgbClr val="3C3939"/>
                </a:solidFill>
                <a:latin typeface="Raleway" pitchFamily="34" charset="0"/>
                <a:ea typeface="Raleway" pitchFamily="34" charset="-122"/>
                <a:cs typeface="Raleway" pitchFamily="34" charset="-120"/>
              </a:rPr>
              <a:t>~1B</a:t>
            </a:r>
            <a:endParaRPr lang="en-US" sz="4600" dirty="0"/>
          </a:p>
        </p:txBody>
      </p:sp>
      <p:sp>
        <p:nvSpPr>
          <p:cNvPr id="10" name="Text 7"/>
          <p:cNvSpPr/>
          <p:nvPr/>
        </p:nvSpPr>
        <p:spPr>
          <a:xfrm>
            <a:off x="8485571" y="3243858"/>
            <a:ext cx="3044650" cy="276920"/>
          </a:xfrm>
          <a:prstGeom prst="rect">
            <a:avLst/>
          </a:prstGeom>
          <a:noFill/>
          <a:ln/>
        </p:spPr>
        <p:txBody>
          <a:bodyPr wrap="none" lIns="0" tIns="0" rIns="0" bIns="0" rtlCol="0" anchor="t"/>
          <a:lstStyle/>
          <a:p>
            <a:pPr marL="0" indent="0" algn="ctr">
              <a:lnSpc>
                <a:spcPct val="104000"/>
              </a:lnSpc>
              <a:buNone/>
            </a:pPr>
            <a:r>
              <a:rPr lang="en-US" sz="1700" dirty="0">
                <a:solidFill>
                  <a:srgbClr val="3C3939"/>
                </a:solidFill>
                <a:latin typeface="Raleway" pitchFamily="34" charset="0"/>
                <a:ea typeface="Raleway" pitchFamily="34" charset="-122"/>
                <a:cs typeface="Raleway" pitchFamily="34" charset="-120"/>
              </a:rPr>
              <a:t>Naive Worst Case</a:t>
            </a:r>
            <a:endParaRPr lang="en-US" sz="1700" dirty="0"/>
          </a:p>
        </p:txBody>
      </p:sp>
      <p:sp>
        <p:nvSpPr>
          <p:cNvPr id="11" name="Text 8"/>
          <p:cNvSpPr/>
          <p:nvPr/>
        </p:nvSpPr>
        <p:spPr>
          <a:xfrm>
            <a:off x="8485571" y="3620393"/>
            <a:ext cx="3044650" cy="549275"/>
          </a:xfrm>
          <a:prstGeom prst="rect">
            <a:avLst/>
          </a:prstGeom>
          <a:noFill/>
          <a:ln/>
        </p:spPr>
        <p:txBody>
          <a:bodyPr wrap="square" lIns="0" tIns="0" rIns="0" bIns="0" rtlCol="0" anchor="t">
            <a:normAutofit/>
          </a:bodyPr>
          <a:lstStyle/>
          <a:p>
            <a:pPr marL="0" indent="0" algn="ctr">
              <a:lnSpc>
                <a:spcPct val="129000"/>
              </a:lnSpc>
              <a:buNone/>
            </a:pPr>
            <a:r>
              <a:rPr lang="en-US" sz="1350" dirty="0">
                <a:solidFill>
                  <a:srgbClr val="3C3939"/>
                </a:solidFill>
                <a:latin typeface="Roboto" pitchFamily="34" charset="0"/>
                <a:ea typeface="Roboto" pitchFamily="34" charset="-122"/>
                <a:cs typeface="Roboto" pitchFamily="34" charset="-120"/>
              </a:rPr>
              <a:t>Character comparisons — potentially hours of processing time</a:t>
            </a:r>
            <a:endParaRPr lang="en-US" sz="1350" dirty="0"/>
          </a:p>
        </p:txBody>
      </p:sp>
      <p:sp>
        <p:nvSpPr>
          <p:cNvPr id="12" name="Text 9"/>
          <p:cNvSpPr/>
          <p:nvPr/>
        </p:nvSpPr>
        <p:spPr>
          <a:xfrm>
            <a:off x="6859416" y="4590455"/>
            <a:ext cx="3044650" cy="584795"/>
          </a:xfrm>
          <a:prstGeom prst="rect">
            <a:avLst/>
          </a:prstGeom>
          <a:noFill/>
          <a:ln/>
        </p:spPr>
        <p:txBody>
          <a:bodyPr wrap="none" lIns="0" tIns="0" rIns="0" bIns="0" rtlCol="0" anchor="t"/>
          <a:lstStyle/>
          <a:p>
            <a:pPr marL="0" indent="0" algn="ctr">
              <a:lnSpc>
                <a:spcPct val="83000"/>
              </a:lnSpc>
              <a:buNone/>
            </a:pPr>
            <a:r>
              <a:rPr lang="en-US" sz="4600" dirty="0">
                <a:solidFill>
                  <a:srgbClr val="3C3939"/>
                </a:solidFill>
                <a:latin typeface="Raleway" pitchFamily="34" charset="0"/>
                <a:ea typeface="Raleway" pitchFamily="34" charset="-122"/>
                <a:cs typeface="Raleway" pitchFamily="34" charset="-120"/>
              </a:rPr>
              <a:t>~2M</a:t>
            </a:r>
            <a:endParaRPr lang="en-US" sz="4600" dirty="0"/>
          </a:p>
        </p:txBody>
      </p:sp>
      <p:sp>
        <p:nvSpPr>
          <p:cNvPr id="13" name="Text 10"/>
          <p:cNvSpPr/>
          <p:nvPr/>
        </p:nvSpPr>
        <p:spPr>
          <a:xfrm>
            <a:off x="6859416" y="5388372"/>
            <a:ext cx="3044650" cy="276920"/>
          </a:xfrm>
          <a:prstGeom prst="rect">
            <a:avLst/>
          </a:prstGeom>
          <a:noFill/>
          <a:ln/>
        </p:spPr>
        <p:txBody>
          <a:bodyPr wrap="none" lIns="0" tIns="0" rIns="0" bIns="0" rtlCol="0" anchor="t"/>
          <a:lstStyle/>
          <a:p>
            <a:pPr marL="0" indent="0" algn="ctr">
              <a:lnSpc>
                <a:spcPct val="104000"/>
              </a:lnSpc>
              <a:buNone/>
            </a:pPr>
            <a:r>
              <a:rPr lang="en-US" sz="1700" dirty="0">
                <a:solidFill>
                  <a:srgbClr val="3C3939"/>
                </a:solidFill>
                <a:latin typeface="Raleway" pitchFamily="34" charset="0"/>
                <a:ea typeface="Raleway" pitchFamily="34" charset="-122"/>
                <a:cs typeface="Raleway" pitchFamily="34" charset="-120"/>
              </a:rPr>
              <a:t>KMP Comparisons</a:t>
            </a:r>
            <a:endParaRPr lang="en-US" sz="1700" dirty="0"/>
          </a:p>
        </p:txBody>
      </p:sp>
      <p:sp>
        <p:nvSpPr>
          <p:cNvPr id="14" name="Text 11"/>
          <p:cNvSpPr/>
          <p:nvPr/>
        </p:nvSpPr>
        <p:spPr>
          <a:xfrm>
            <a:off x="6859416" y="5764907"/>
            <a:ext cx="3044650" cy="549275"/>
          </a:xfrm>
          <a:prstGeom prst="rect">
            <a:avLst/>
          </a:prstGeom>
          <a:noFill/>
          <a:ln/>
        </p:spPr>
        <p:txBody>
          <a:bodyPr wrap="square" lIns="0" tIns="0" rIns="0" bIns="0" rtlCol="0" anchor="t">
            <a:normAutofit/>
          </a:bodyPr>
          <a:lstStyle/>
          <a:p>
            <a:pPr marL="0" indent="0" algn="ctr">
              <a:lnSpc>
                <a:spcPct val="129000"/>
              </a:lnSpc>
              <a:buNone/>
            </a:pPr>
            <a:r>
              <a:rPr lang="en-US" sz="1350" dirty="0">
                <a:solidFill>
                  <a:srgbClr val="3C3939"/>
                </a:solidFill>
                <a:latin typeface="Roboto" pitchFamily="34" charset="0"/>
                <a:ea typeface="Roboto" pitchFamily="34" charset="-122"/>
                <a:cs typeface="Roboto" pitchFamily="34" charset="-120"/>
              </a:rPr>
              <a:t>Over </a:t>
            </a:r>
            <a:r>
              <a:rPr lang="en-US" sz="1350" b="1" dirty="0">
                <a:solidFill>
                  <a:srgbClr val="3C3939"/>
                </a:solidFill>
                <a:latin typeface="Roboto Bold" pitchFamily="34" charset="0"/>
                <a:ea typeface="Roboto Bold" pitchFamily="34" charset="-122"/>
                <a:cs typeface="Roboto Bold" pitchFamily="34" charset="-120"/>
              </a:rPr>
              <a:t>500× fewer</a:t>
            </a:r>
            <a:r>
              <a:rPr lang="en-US" sz="1350" dirty="0">
                <a:solidFill>
                  <a:srgbClr val="3C3939"/>
                </a:solidFill>
                <a:latin typeface="Roboto" pitchFamily="34" charset="0"/>
                <a:ea typeface="Roboto" pitchFamily="34" charset="-122"/>
                <a:cs typeface="Roboto" pitchFamily="34" charset="-120"/>
              </a:rPr>
              <a:t> comparisons for the same search task</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993602"/>
          </a:xfrm>
          <a:prstGeom prst="rect">
            <a:avLst/>
          </a:prstGeom>
          <a:solidFill>
            <a:srgbClr val="E1E1EA"/>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4720214" y="79673"/>
            <a:ext cx="2751267" cy="1834257"/>
          </a:xfrm>
          <a:prstGeom prst="rect">
            <a:avLst/>
          </a:prstGeom>
        </p:spPr>
      </p:pic>
      <p:sp>
        <p:nvSpPr>
          <p:cNvPr id="4" name="Text 1"/>
          <p:cNvSpPr/>
          <p:nvPr/>
        </p:nvSpPr>
        <p:spPr>
          <a:xfrm>
            <a:off x="661475" y="2578894"/>
            <a:ext cx="10868745" cy="498376"/>
          </a:xfrm>
          <a:prstGeom prst="rect">
            <a:avLst/>
          </a:prstGeom>
          <a:noFill/>
          <a:ln/>
        </p:spPr>
        <p:txBody>
          <a:bodyPr wrap="none" lIns="0" tIns="0" rIns="0" bIns="0" rtlCol="0" anchor="t"/>
          <a:lstStyle/>
          <a:p>
            <a:pPr marL="0" indent="0" algn="l">
              <a:lnSpc>
                <a:spcPct val="104000"/>
              </a:lnSpc>
              <a:buNone/>
            </a:pPr>
            <a:r>
              <a:rPr lang="en-US" sz="3100" dirty="0">
                <a:solidFill>
                  <a:srgbClr val="1B1B27"/>
                </a:solidFill>
                <a:latin typeface="Raleway" pitchFamily="34" charset="0"/>
                <a:ea typeface="Raleway" pitchFamily="34" charset="-122"/>
                <a:cs typeface="Raleway" pitchFamily="34" charset="-120"/>
              </a:rPr>
              <a:t>Naive Algorithm: Step-by-Step</a:t>
            </a:r>
            <a:endParaRPr lang="en-US" sz="3100" dirty="0"/>
          </a:p>
        </p:txBody>
      </p:sp>
      <p:sp>
        <p:nvSpPr>
          <p:cNvPr id="5" name="Text 2"/>
          <p:cNvSpPr/>
          <p:nvPr/>
        </p:nvSpPr>
        <p:spPr>
          <a:xfrm>
            <a:off x="661475" y="3279080"/>
            <a:ext cx="10868745" cy="470297"/>
          </a:xfrm>
          <a:prstGeom prst="rect">
            <a:avLst/>
          </a:prstGeom>
          <a:noFill/>
          <a:ln/>
        </p:spPr>
        <p:txBody>
          <a:bodyPr wrap="square" lIns="0" tIns="0" rIns="0" bIns="0" rtlCol="0" anchor="t">
            <a:normAutofit/>
          </a:bodyPr>
          <a:lstStyle/>
          <a:p>
            <a:pPr marL="0" indent="0" algn="l">
              <a:lnSpc>
                <a:spcPct val="123000"/>
              </a:lnSpc>
              <a:buNone/>
            </a:pPr>
            <a:r>
              <a:rPr lang="en-US" sz="1250" b="1" dirty="0">
                <a:solidFill>
                  <a:srgbClr val="3C3939"/>
                </a:solidFill>
                <a:latin typeface="Roboto Bold" pitchFamily="34" charset="0"/>
                <a:ea typeface="Roboto Bold" pitchFamily="34" charset="-122"/>
                <a:cs typeface="Roboto Bold" pitchFamily="34" charset="-120"/>
              </a:rPr>
              <a:t>No memory of previous comparisons.</a:t>
            </a:r>
            <a:r>
              <a:rPr lang="en-US" sz="1250" dirty="0">
                <a:solidFill>
                  <a:srgbClr val="3C3939"/>
                </a:solidFill>
                <a:latin typeface="Roboto" pitchFamily="34" charset="0"/>
                <a:ea typeface="Roboto" pitchFamily="34" charset="-122"/>
                <a:cs typeface="Roboto" pitchFamily="34" charset="-120"/>
              </a:rPr>
              <a:t> The naive string matching algorithm checks the pattern at every possible starting position in the text, comparing characters one by one.</a:t>
            </a:r>
            <a:endParaRPr lang="en-US" sz="1250" dirty="0"/>
          </a:p>
        </p:txBody>
      </p:sp>
      <p:sp>
        <p:nvSpPr>
          <p:cNvPr id="6" name="Text 3"/>
          <p:cNvSpPr/>
          <p:nvPr/>
        </p:nvSpPr>
        <p:spPr>
          <a:xfrm>
            <a:off x="661475" y="3900686"/>
            <a:ext cx="10868745" cy="1363861"/>
          </a:xfrm>
          <a:prstGeom prst="rect">
            <a:avLst/>
          </a:prstGeom>
          <a:noFill/>
          <a:ln/>
        </p:spPr>
        <p:txBody>
          <a:bodyPr wrap="square" lIns="0" tIns="0" rIns="0" bIns="0" rtlCol="0" anchor="t">
            <a:normAutofit/>
          </a:bodyPr>
          <a:lstStyle/>
          <a:p>
            <a:pPr marL="254000" indent="-254000" algn="l">
              <a:lnSpc>
                <a:spcPct val="123000"/>
              </a:lnSpc>
              <a:buSzPct val="100000"/>
              <a:buFont typeface="+mj-lt"/>
              <a:buAutoNum type="arabicPeriod"/>
            </a:pPr>
            <a:r>
              <a:rPr lang="en-US" sz="1250" b="1" dirty="0">
                <a:solidFill>
                  <a:srgbClr val="3C3939"/>
                </a:solidFill>
                <a:latin typeface="Roboto Bold" pitchFamily="34" charset="0"/>
                <a:ea typeface="Roboto Bold" pitchFamily="34" charset="-122"/>
                <a:cs typeface="Roboto Bold" pitchFamily="34" charset="-120"/>
              </a:rPr>
              <a:t>Step 1:</a:t>
            </a:r>
            <a:r>
              <a:rPr lang="en-US" sz="1250" dirty="0">
                <a:solidFill>
                  <a:srgbClr val="3C3939"/>
                </a:solidFill>
                <a:latin typeface="Roboto" pitchFamily="34" charset="0"/>
                <a:ea typeface="Roboto" pitchFamily="34" charset="-122"/>
                <a:cs typeface="Roboto" pitchFamily="34" charset="-120"/>
              </a:rPr>
              <a:t> Start at the beginning of both text and pattern</a:t>
            </a:r>
            <a:endParaRPr lang="en-US" sz="1250" dirty="0"/>
          </a:p>
          <a:p>
            <a:pPr marL="254000" indent="-254000" algn="l">
              <a:lnSpc>
                <a:spcPct val="123000"/>
              </a:lnSpc>
              <a:buSzPct val="100000"/>
              <a:buFont typeface="+mj-lt"/>
              <a:buAutoNum type="arabicPeriod" startAt="2"/>
            </a:pPr>
            <a:r>
              <a:rPr lang="en-US" sz="1250" b="1" dirty="0">
                <a:solidFill>
                  <a:srgbClr val="3C3939"/>
                </a:solidFill>
                <a:latin typeface="Roboto Bold" pitchFamily="34" charset="0"/>
                <a:ea typeface="Roboto Bold" pitchFamily="34" charset="-122"/>
                <a:cs typeface="Roboto Bold" pitchFamily="34" charset="-120"/>
              </a:rPr>
              <a:t>Step 2:</a:t>
            </a:r>
            <a:r>
              <a:rPr lang="en-US" sz="1250" dirty="0">
                <a:solidFill>
                  <a:srgbClr val="3C3939"/>
                </a:solidFill>
                <a:latin typeface="Roboto" pitchFamily="34" charset="0"/>
                <a:ea typeface="Roboto" pitchFamily="34" charset="-122"/>
                <a:cs typeface="Roboto" pitchFamily="34" charset="-120"/>
              </a:rPr>
              <a:t> Compare characters one by one</a:t>
            </a:r>
            <a:endParaRPr lang="en-US" sz="1250" dirty="0"/>
          </a:p>
          <a:p>
            <a:pPr marL="254000" indent="-254000" algn="l">
              <a:lnSpc>
                <a:spcPct val="123000"/>
              </a:lnSpc>
              <a:buSzPct val="100000"/>
              <a:buFont typeface="+mj-lt"/>
              <a:buAutoNum type="arabicPeriod" startAt="3"/>
            </a:pPr>
            <a:r>
              <a:rPr lang="en-US" sz="1250" b="1" dirty="0">
                <a:solidFill>
                  <a:srgbClr val="3C3939"/>
                </a:solidFill>
                <a:latin typeface="Roboto Bold" pitchFamily="34" charset="0"/>
                <a:ea typeface="Roboto Bold" pitchFamily="34" charset="-122"/>
                <a:cs typeface="Roboto Bold" pitchFamily="34" charset="-120"/>
              </a:rPr>
              <a:t>Step 3:</a:t>
            </a:r>
            <a:r>
              <a:rPr lang="en-US" sz="1250" dirty="0">
                <a:solidFill>
                  <a:srgbClr val="3C3939"/>
                </a:solidFill>
                <a:latin typeface="Roboto" pitchFamily="34" charset="0"/>
                <a:ea typeface="Roboto" pitchFamily="34" charset="-122"/>
                <a:cs typeface="Roboto" pitchFamily="34" charset="-120"/>
              </a:rPr>
              <a:t> If characters match, move both pointers forward</a:t>
            </a:r>
            <a:endParaRPr lang="en-US" sz="1250" dirty="0"/>
          </a:p>
          <a:p>
            <a:pPr marL="254000" indent="-254000" algn="l">
              <a:lnSpc>
                <a:spcPct val="123000"/>
              </a:lnSpc>
              <a:buSzPct val="100000"/>
              <a:buFont typeface="+mj-lt"/>
              <a:buAutoNum type="arabicPeriod" startAt="4"/>
            </a:pPr>
            <a:r>
              <a:rPr lang="en-US" sz="1250" b="1" dirty="0">
                <a:solidFill>
                  <a:srgbClr val="3C3939"/>
                </a:solidFill>
                <a:latin typeface="Roboto Bold" pitchFamily="34" charset="0"/>
                <a:ea typeface="Roboto Bold" pitchFamily="34" charset="-122"/>
                <a:cs typeface="Roboto Bold" pitchFamily="34" charset="-120"/>
              </a:rPr>
              <a:t>Step 4:</a:t>
            </a:r>
            <a:r>
              <a:rPr lang="en-US" sz="1250" dirty="0">
                <a:solidFill>
                  <a:srgbClr val="3C3939"/>
                </a:solidFill>
                <a:latin typeface="Roboto" pitchFamily="34" charset="0"/>
                <a:ea typeface="Roboto" pitchFamily="34" charset="-122"/>
                <a:cs typeface="Roboto" pitchFamily="34" charset="-120"/>
              </a:rPr>
              <a:t> If characters don't match, reset the pattern pointer to start and shift the text pointer by 1</a:t>
            </a:r>
            <a:endParaRPr lang="en-US" sz="1250" dirty="0"/>
          </a:p>
          <a:p>
            <a:pPr marL="254000" indent="-254000" algn="l">
              <a:lnSpc>
                <a:spcPct val="123000"/>
              </a:lnSpc>
              <a:buSzPct val="100000"/>
              <a:buFont typeface="+mj-lt"/>
              <a:buAutoNum type="arabicPeriod" startAt="5"/>
            </a:pPr>
            <a:r>
              <a:rPr lang="en-US" sz="1250" b="1" dirty="0">
                <a:solidFill>
                  <a:srgbClr val="3C3939"/>
                </a:solidFill>
                <a:latin typeface="Roboto Bold" pitchFamily="34" charset="0"/>
                <a:ea typeface="Roboto Bold" pitchFamily="34" charset="-122"/>
                <a:cs typeface="Roboto Bold" pitchFamily="34" charset="-120"/>
              </a:rPr>
              <a:t>Step 5:</a:t>
            </a:r>
            <a:r>
              <a:rPr lang="en-US" sz="1250" dirty="0">
                <a:solidFill>
                  <a:srgbClr val="3C3939"/>
                </a:solidFill>
                <a:latin typeface="Roboto" pitchFamily="34" charset="0"/>
                <a:ea typeface="Roboto" pitchFamily="34" charset="-122"/>
                <a:cs typeface="Roboto" pitchFamily="34" charset="-120"/>
              </a:rPr>
              <a:t> Repeat until the pattern is found or the text ends</a:t>
            </a:r>
            <a:endParaRPr lang="en-US" sz="1250" dirty="0"/>
          </a:p>
        </p:txBody>
      </p:sp>
      <p:sp>
        <p:nvSpPr>
          <p:cNvPr id="7" name="Text 4"/>
          <p:cNvSpPr/>
          <p:nvPr/>
        </p:nvSpPr>
        <p:spPr>
          <a:xfrm>
            <a:off x="661475" y="5415855"/>
            <a:ext cx="10868745" cy="856754"/>
          </a:xfrm>
          <a:prstGeom prst="rect">
            <a:avLst/>
          </a:prstGeom>
          <a:noFill/>
          <a:ln/>
        </p:spPr>
        <p:txBody>
          <a:bodyPr wrap="square" lIns="0" tIns="0" rIns="0" bIns="0" rtlCol="0" anchor="t">
            <a:normAutofit/>
          </a:bodyPr>
          <a:lstStyle/>
          <a:p>
            <a:pPr marL="0" indent="0" algn="l">
              <a:lnSpc>
                <a:spcPct val="123000"/>
              </a:lnSpc>
              <a:spcAft>
                <a:spcPts val="1150"/>
              </a:spcAft>
              <a:buNone/>
            </a:pPr>
            <a:r>
              <a:rPr lang="en-US" sz="1250" b="1" dirty="0">
                <a:solidFill>
                  <a:srgbClr val="3C3939"/>
                </a:solidFill>
                <a:latin typeface="Roboto Bold" pitchFamily="34" charset="0"/>
                <a:ea typeface="Roboto Bold" pitchFamily="34" charset="-122"/>
                <a:cs typeface="Roboto Bold" pitchFamily="34" charset="-120"/>
              </a:rPr>
              <a:t>AAAAB example:</a:t>
            </a:r>
            <a:r>
              <a:rPr lang="en-US" sz="1250" dirty="0">
                <a:solidFill>
                  <a:srgbClr val="3C3939"/>
                </a:solidFill>
                <a:latin typeface="Roboto" pitchFamily="34" charset="0"/>
                <a:ea typeface="Roboto" pitchFamily="34" charset="-122"/>
                <a:cs typeface="Roboto" pitchFamily="34" charset="-120"/>
              </a:rPr>
              <a:t> it may match </a:t>
            </a:r>
            <a:r>
              <a:rPr lang="en-US" sz="1250" b="1" dirty="0">
                <a:solidFill>
                  <a:srgbClr val="3C3939"/>
                </a:solidFill>
                <a:latin typeface="Roboto Bold" pitchFamily="34" charset="0"/>
                <a:ea typeface="Roboto Bold" pitchFamily="34" charset="-122"/>
                <a:cs typeface="Roboto Bold" pitchFamily="34" charset="-120"/>
              </a:rPr>
              <a:t>AAA</a:t>
            </a:r>
            <a:r>
              <a:rPr lang="en-US" sz="1250" dirty="0">
                <a:solidFill>
                  <a:srgbClr val="3C3939"/>
                </a:solidFill>
                <a:latin typeface="Roboto" pitchFamily="34" charset="0"/>
                <a:ea typeface="Roboto" pitchFamily="34" charset="-122"/>
                <a:cs typeface="Roboto" pitchFamily="34" charset="-120"/>
              </a:rPr>
              <a:t> first, then fail on the next character. The algorithm then shifts by one and repeats the same comparisons, which is wasteful.</a:t>
            </a:r>
            <a:endParaRPr lang="en-US" sz="1250" dirty="0"/>
          </a:p>
          <a:p>
            <a:pPr marL="0" indent="0" algn="l">
              <a:lnSpc>
                <a:spcPct val="123000"/>
              </a:lnSpc>
              <a:buNone/>
            </a:pPr>
            <a:r>
              <a:rPr lang="en-US" sz="1250" b="1" dirty="0">
                <a:solidFill>
                  <a:srgbClr val="3C3939"/>
                </a:solidFill>
                <a:latin typeface="Roboto Bold" pitchFamily="34" charset="0"/>
                <a:ea typeface="Roboto Bold" pitchFamily="34" charset="-122"/>
                <a:cs typeface="Roboto Bold" pitchFamily="34" charset="-120"/>
              </a:rPr>
              <a:t>Time complexity:</a:t>
            </a:r>
            <a:r>
              <a:rPr lang="en-US" sz="1250" dirty="0">
                <a:solidFill>
                  <a:srgbClr val="3C3939"/>
                </a:solidFill>
                <a:latin typeface="Roboto" pitchFamily="34" charset="0"/>
                <a:ea typeface="Roboto" pitchFamily="34" charset="-122"/>
                <a:cs typeface="Roboto" pitchFamily="34" charset="-120"/>
              </a:rPr>
              <a:t> </a:t>
            </a:r>
            <a:r>
              <a:rPr lang="en-US" sz="1250" b="1" dirty="0">
                <a:solidFill>
                  <a:srgbClr val="3C3939"/>
                </a:solidFill>
                <a:latin typeface="Roboto Bold" pitchFamily="34" charset="0"/>
                <a:ea typeface="Roboto Bold" pitchFamily="34" charset="-122"/>
                <a:cs typeface="Roboto Bold" pitchFamily="34" charset="-120"/>
              </a:rPr>
              <a:t>O(n × m)</a:t>
            </a:r>
            <a:r>
              <a:rPr lang="en-US" sz="1250" dirty="0">
                <a:solidFill>
                  <a:srgbClr val="3C3939"/>
                </a:solidFill>
                <a:latin typeface="Roboto" pitchFamily="34" charset="0"/>
                <a:ea typeface="Roboto" pitchFamily="34" charset="-122"/>
                <a:cs typeface="Roboto" pitchFamily="34" charset="-120"/>
              </a:rPr>
              <a:t> worst case.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7282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KMP Algorithm: Step-by-Step</a:t>
            </a:r>
            <a:endParaRPr lang="en-US" sz="3700" dirty="0"/>
          </a:p>
        </p:txBody>
      </p:sp>
      <p:sp>
        <p:nvSpPr>
          <p:cNvPr id="3" name="Text 1"/>
          <p:cNvSpPr/>
          <p:nvPr/>
        </p:nvSpPr>
        <p:spPr>
          <a:xfrm>
            <a:off x="661475" y="1841500"/>
            <a:ext cx="11478330" cy="302419"/>
          </a:xfrm>
          <a:prstGeom prst="rect">
            <a:avLst/>
          </a:prstGeom>
          <a:noFill/>
          <a:ln/>
        </p:spPr>
        <p:txBody>
          <a:bodyPr wrap="none" lIns="0" tIns="0" rIns="0" bIns="0" rtlCol="0" anchor="t"/>
          <a:lstStyle/>
          <a:p>
            <a:pPr marL="0" indent="0" algn="l">
              <a:lnSpc>
                <a:spcPct val="133000"/>
              </a:lnSpc>
              <a:buNone/>
            </a:pPr>
            <a:r>
              <a:rPr lang="en-US" sz="1450" b="1" dirty="0">
                <a:solidFill>
                  <a:srgbClr val="3C3939"/>
                </a:solidFill>
                <a:latin typeface="Roboto Bold" pitchFamily="34" charset="0"/>
                <a:ea typeface="Roboto Bold" pitchFamily="34" charset="-122"/>
                <a:cs typeface="Roboto Bold" pitchFamily="34" charset="-120"/>
              </a:rPr>
              <a:t>LPS</a:t>
            </a:r>
            <a:r>
              <a:rPr lang="en-US" sz="1450" dirty="0">
                <a:solidFill>
                  <a:srgbClr val="3C3939"/>
                </a:solidFill>
                <a:latin typeface="Roboto" pitchFamily="34" charset="0"/>
                <a:ea typeface="Roboto" pitchFamily="34" charset="-122"/>
                <a:cs typeface="Roboto" pitchFamily="34" charset="-120"/>
              </a:rPr>
              <a:t> means </a:t>
            </a:r>
            <a:r>
              <a:rPr lang="en-US" sz="1450" b="1" dirty="0">
                <a:solidFill>
                  <a:srgbClr val="3C3939"/>
                </a:solidFill>
                <a:latin typeface="Roboto Bold" pitchFamily="34" charset="0"/>
                <a:ea typeface="Roboto Bold" pitchFamily="34" charset="-122"/>
                <a:cs typeface="Roboto Bold" pitchFamily="34" charset="-120"/>
              </a:rPr>
              <a:t>Longest Proper Prefix which is also a Suffix</a:t>
            </a:r>
            <a:r>
              <a:rPr lang="en-US" sz="1450" dirty="0">
                <a:solidFill>
                  <a:srgbClr val="3C3939"/>
                </a:solidFill>
                <a:latin typeface="Roboto" pitchFamily="34" charset="0"/>
                <a:ea typeface="Roboto" pitchFamily="34" charset="-122"/>
                <a:cs typeface="Roboto" pitchFamily="34" charset="-120"/>
              </a:rPr>
              <a:t>. It tells KMP how much of the pattern can be reused after a mismatch.</a:t>
            </a:r>
            <a:endParaRPr lang="en-US" sz="1450" dirty="0"/>
          </a:p>
        </p:txBody>
      </p:sp>
      <p:sp>
        <p:nvSpPr>
          <p:cNvPr id="4" name="Text 2"/>
          <p:cNvSpPr/>
          <p:nvPr/>
        </p:nvSpPr>
        <p:spPr>
          <a:xfrm>
            <a:off x="661475" y="2356545"/>
            <a:ext cx="10868745" cy="2144911"/>
          </a:xfrm>
          <a:prstGeom prst="rect">
            <a:avLst/>
          </a:prstGeom>
          <a:noFill/>
          <a:ln/>
        </p:spPr>
        <p:txBody>
          <a:bodyPr wrap="square" lIns="0" tIns="0" rIns="0" bIns="0" rtlCol="0" anchor="t">
            <a:normAutofit/>
          </a:bodyPr>
          <a:lstStyle/>
          <a:p>
            <a:pPr marL="294640" indent="-294640" algn="l">
              <a:lnSpc>
                <a:spcPct val="133000"/>
              </a:lnSpc>
              <a:buSzPct val="100000"/>
              <a:buFont typeface="+mj-lt"/>
              <a:buAutoNum type="arabicPeriod"/>
            </a:pPr>
            <a:r>
              <a:rPr lang="en-US" sz="1450" b="1" dirty="0">
                <a:solidFill>
                  <a:srgbClr val="3C3939"/>
                </a:solidFill>
                <a:latin typeface="Roboto Bold" pitchFamily="34" charset="0"/>
                <a:ea typeface="Roboto Bold" pitchFamily="34" charset="-122"/>
                <a:cs typeface="Roboto Bold" pitchFamily="34" charset="-120"/>
              </a:rPr>
              <a:t>Step 1:</a:t>
            </a:r>
            <a:r>
              <a:rPr lang="en-US" sz="1450" dirty="0">
                <a:solidFill>
                  <a:srgbClr val="3C3939"/>
                </a:solidFill>
                <a:latin typeface="Roboto" pitchFamily="34" charset="0"/>
                <a:ea typeface="Roboto" pitchFamily="34" charset="-122"/>
                <a:cs typeface="Roboto" pitchFamily="34" charset="-120"/>
              </a:rPr>
              <a:t> Build the LPS (failure function) table from the pattern.</a:t>
            </a:r>
            <a:endParaRPr lang="en-US" sz="1450" dirty="0"/>
          </a:p>
          <a:p>
            <a:pPr marL="294640" indent="-294640" algn="l">
              <a:lnSpc>
                <a:spcPct val="133000"/>
              </a:lnSpc>
              <a:buSzPct val="100000"/>
              <a:buFont typeface="+mj-lt"/>
              <a:buAutoNum type="arabicPeriod" startAt="2"/>
            </a:pPr>
            <a:r>
              <a:rPr lang="en-US" sz="1450" b="1" dirty="0">
                <a:solidFill>
                  <a:srgbClr val="3C3939"/>
                </a:solidFill>
                <a:latin typeface="Roboto Bold" pitchFamily="34" charset="0"/>
                <a:ea typeface="Roboto Bold" pitchFamily="34" charset="-122"/>
                <a:cs typeface="Roboto Bold" pitchFamily="34" charset="-120"/>
              </a:rPr>
              <a:t>Step 2:</a:t>
            </a:r>
            <a:r>
              <a:rPr lang="en-US" sz="1450" dirty="0">
                <a:solidFill>
                  <a:srgbClr val="3C3939"/>
                </a:solidFill>
                <a:latin typeface="Roboto" pitchFamily="34" charset="0"/>
                <a:ea typeface="Roboto" pitchFamily="34" charset="-122"/>
                <a:cs typeface="Roboto" pitchFamily="34" charset="-120"/>
              </a:rPr>
              <a:t> Start scanning the text from left to right.</a:t>
            </a:r>
            <a:endParaRPr lang="en-US" sz="1450" dirty="0"/>
          </a:p>
          <a:p>
            <a:pPr marL="294640" indent="-294640" algn="l">
              <a:lnSpc>
                <a:spcPct val="133000"/>
              </a:lnSpc>
              <a:buSzPct val="100000"/>
              <a:buFont typeface="+mj-lt"/>
              <a:buAutoNum type="arabicPeriod" startAt="3"/>
            </a:pPr>
            <a:r>
              <a:rPr lang="en-US" sz="1450" b="1" dirty="0">
                <a:solidFill>
                  <a:srgbClr val="3C3939"/>
                </a:solidFill>
                <a:latin typeface="Roboto Bold" pitchFamily="34" charset="0"/>
                <a:ea typeface="Roboto Bold" pitchFamily="34" charset="-122"/>
                <a:cs typeface="Roboto Bold" pitchFamily="34" charset="-120"/>
              </a:rPr>
              <a:t>Step 3:</a:t>
            </a:r>
            <a:r>
              <a:rPr lang="en-US" sz="1450" dirty="0">
                <a:solidFill>
                  <a:srgbClr val="3C3939"/>
                </a:solidFill>
                <a:latin typeface="Roboto" pitchFamily="34" charset="0"/>
                <a:ea typeface="Roboto" pitchFamily="34" charset="-122"/>
                <a:cs typeface="Roboto" pitchFamily="34" charset="-120"/>
              </a:rPr>
              <a:t> Compare pattern characters with text characters.</a:t>
            </a:r>
            <a:endParaRPr lang="en-US" sz="1450" dirty="0"/>
          </a:p>
          <a:p>
            <a:pPr marL="294640" indent="-294640" algn="l">
              <a:lnSpc>
                <a:spcPct val="133000"/>
              </a:lnSpc>
              <a:buSzPct val="100000"/>
              <a:buFont typeface="+mj-lt"/>
              <a:buAutoNum type="arabicPeriod" startAt="4"/>
            </a:pPr>
            <a:r>
              <a:rPr lang="en-US" sz="1450" b="1" dirty="0">
                <a:solidFill>
                  <a:srgbClr val="3C3939"/>
                </a:solidFill>
                <a:latin typeface="Roboto Bold" pitchFamily="34" charset="0"/>
                <a:ea typeface="Roboto Bold" pitchFamily="34" charset="-122"/>
                <a:cs typeface="Roboto Bold" pitchFamily="34" charset="-120"/>
              </a:rPr>
              <a:t>Step 4:</a:t>
            </a:r>
            <a:r>
              <a:rPr lang="en-US" sz="1450" dirty="0">
                <a:solidFill>
                  <a:srgbClr val="3C3939"/>
                </a:solidFill>
                <a:latin typeface="Roboto" pitchFamily="34" charset="0"/>
                <a:ea typeface="Roboto" pitchFamily="34" charset="-122"/>
                <a:cs typeface="Roboto" pitchFamily="34" charset="-120"/>
              </a:rPr>
              <a:t> On match, advance both pointers.</a:t>
            </a:r>
            <a:endParaRPr lang="en-US" sz="1450" dirty="0"/>
          </a:p>
          <a:p>
            <a:pPr marL="294640" indent="-294640" algn="l">
              <a:lnSpc>
                <a:spcPct val="133000"/>
              </a:lnSpc>
              <a:buSzPct val="100000"/>
              <a:buFont typeface="+mj-lt"/>
              <a:buAutoNum type="arabicPeriod" startAt="5"/>
            </a:pPr>
            <a:r>
              <a:rPr lang="en-US" sz="1450" b="1" dirty="0">
                <a:solidFill>
                  <a:srgbClr val="3C3939"/>
                </a:solidFill>
                <a:latin typeface="Roboto Bold" pitchFamily="34" charset="0"/>
                <a:ea typeface="Roboto Bold" pitchFamily="34" charset="-122"/>
                <a:cs typeface="Roboto Bold" pitchFamily="34" charset="-120"/>
              </a:rPr>
              <a:t>Step 5:</a:t>
            </a:r>
            <a:r>
              <a:rPr lang="en-US" sz="1450" dirty="0">
                <a:solidFill>
                  <a:srgbClr val="3C3939"/>
                </a:solidFill>
                <a:latin typeface="Roboto" pitchFamily="34" charset="0"/>
                <a:ea typeface="Roboto" pitchFamily="34" charset="-122"/>
                <a:cs typeface="Roboto" pitchFamily="34" charset="-120"/>
              </a:rPr>
              <a:t> On mismatch, use the LPS table to jump — don't restart from position 1.</a:t>
            </a:r>
            <a:endParaRPr lang="en-US" sz="1450" dirty="0"/>
          </a:p>
          <a:p>
            <a:pPr marL="294640" indent="-294640" algn="l">
              <a:lnSpc>
                <a:spcPct val="133000"/>
              </a:lnSpc>
              <a:buSzPct val="100000"/>
              <a:buFont typeface="+mj-lt"/>
              <a:buAutoNum type="arabicPeriod" startAt="6"/>
            </a:pPr>
            <a:r>
              <a:rPr lang="en-US" sz="1450" b="1" dirty="0">
                <a:solidFill>
                  <a:srgbClr val="3C3939"/>
                </a:solidFill>
                <a:latin typeface="Roboto Bold" pitchFamily="34" charset="0"/>
                <a:ea typeface="Roboto Bold" pitchFamily="34" charset="-122"/>
                <a:cs typeface="Roboto Bold" pitchFamily="34" charset="-120"/>
              </a:rPr>
              <a:t>Step 6:</a:t>
            </a:r>
            <a:r>
              <a:rPr lang="en-US" sz="1450" dirty="0">
                <a:solidFill>
                  <a:srgbClr val="3C3939"/>
                </a:solidFill>
                <a:latin typeface="Roboto" pitchFamily="34" charset="0"/>
                <a:ea typeface="Roboto" pitchFamily="34" charset="-122"/>
                <a:cs typeface="Roboto" pitchFamily="34" charset="-120"/>
              </a:rPr>
              <a:t> Continue until the pattern is found or the text ends.</a:t>
            </a:r>
            <a:endParaRPr lang="en-US" sz="1450" dirty="0"/>
          </a:p>
        </p:txBody>
      </p:sp>
      <p:sp>
        <p:nvSpPr>
          <p:cNvPr id="5" name="Shape 3"/>
          <p:cNvSpPr/>
          <p:nvPr/>
        </p:nvSpPr>
        <p:spPr>
          <a:xfrm>
            <a:off x="661475" y="4714081"/>
            <a:ext cx="10868745" cy="755948"/>
          </a:xfrm>
          <a:prstGeom prst="roundRect">
            <a:avLst>
              <a:gd name="adj" fmla="val 10502"/>
            </a:avLst>
          </a:prstGeom>
          <a:solidFill>
            <a:srgbClr val="B6FCB8"/>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850482" y="4981773"/>
            <a:ext cx="236234" cy="189012"/>
          </a:xfrm>
          <a:prstGeom prst="rect">
            <a:avLst/>
          </a:prstGeom>
        </p:spPr>
      </p:pic>
      <p:sp>
        <p:nvSpPr>
          <p:cNvPr id="7" name="Text 4"/>
          <p:cNvSpPr/>
          <p:nvPr/>
        </p:nvSpPr>
        <p:spPr>
          <a:xfrm>
            <a:off x="1275723" y="4950321"/>
            <a:ext cx="10675075" cy="302419"/>
          </a:xfrm>
          <a:prstGeom prst="rect">
            <a:avLst/>
          </a:prstGeom>
          <a:noFill/>
          <a:ln/>
        </p:spPr>
        <p:txBody>
          <a:bodyPr wrap="none" lIns="0" tIns="0" rIns="0" bIns="0" rtlCol="0" anchor="t"/>
          <a:lstStyle/>
          <a:p>
            <a:pPr marL="0" indent="0" algn="l">
              <a:lnSpc>
                <a:spcPct val="133000"/>
              </a:lnSpc>
              <a:buNone/>
            </a:pPr>
            <a:r>
              <a:rPr lang="en-US" sz="1450" b="1" dirty="0">
                <a:solidFill>
                  <a:srgbClr val="000000"/>
                </a:solidFill>
                <a:latin typeface="Roboto Bold" pitchFamily="34" charset="0"/>
                <a:ea typeface="Roboto Bold" pitchFamily="34" charset="-122"/>
                <a:cs typeface="Roboto Bold" pitchFamily="34" charset="-120"/>
              </a:rPr>
              <a:t>Key advantage:</a:t>
            </a:r>
            <a:r>
              <a:rPr lang="en-US" sz="1450" dirty="0">
                <a:solidFill>
                  <a:srgbClr val="000000"/>
                </a:solidFill>
                <a:latin typeface="Roboto" pitchFamily="34" charset="0"/>
                <a:ea typeface="Roboto" pitchFamily="34" charset="-122"/>
                <a:cs typeface="Roboto" pitchFamily="34" charset="-120"/>
              </a:rPr>
              <a:t> Text pointer never moves backward.</a:t>
            </a:r>
            <a:endParaRPr lang="en-US" sz="1450" dirty="0"/>
          </a:p>
        </p:txBody>
      </p:sp>
      <p:sp>
        <p:nvSpPr>
          <p:cNvPr id="8" name="Text 5"/>
          <p:cNvSpPr/>
          <p:nvPr/>
        </p:nvSpPr>
        <p:spPr>
          <a:xfrm>
            <a:off x="661475" y="5682655"/>
            <a:ext cx="11478330" cy="302419"/>
          </a:xfrm>
          <a:prstGeom prst="rect">
            <a:avLst/>
          </a:prstGeom>
          <a:noFill/>
          <a:ln/>
        </p:spPr>
        <p:txBody>
          <a:bodyPr wrap="none" lIns="0" tIns="0" rIns="0" bIns="0" rtlCol="0" anchor="t"/>
          <a:lstStyle/>
          <a:p>
            <a:pPr marL="0" indent="0" algn="l">
              <a:lnSpc>
                <a:spcPct val="133000"/>
              </a:lnSpc>
              <a:buNone/>
            </a:pPr>
            <a:r>
              <a:rPr lang="en-US" sz="1450" b="1" dirty="0">
                <a:solidFill>
                  <a:srgbClr val="3C3939"/>
                </a:solidFill>
                <a:latin typeface="Roboto Bold" pitchFamily="34" charset="0"/>
                <a:ea typeface="Roboto Bold" pitchFamily="34" charset="-122"/>
                <a:cs typeface="Roboto Bold" pitchFamily="34" charset="-120"/>
              </a:rPr>
              <a:t>Time complexity:</a:t>
            </a:r>
            <a:r>
              <a:rPr lang="en-US" sz="1450" dirty="0">
                <a:solidFill>
                  <a:srgbClr val="3C3939"/>
                </a:solidFill>
                <a:latin typeface="Roboto" pitchFamily="34" charset="0"/>
                <a:ea typeface="Roboto" pitchFamily="34" charset="-122"/>
                <a:cs typeface="Roboto" pitchFamily="34" charset="-120"/>
              </a:rPr>
              <a:t> O(n + m)</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710704"/>
            <a:ext cx="10868745" cy="563066"/>
          </a:xfrm>
          <a:prstGeom prst="rect">
            <a:avLst/>
          </a:prstGeom>
          <a:noFill/>
          <a:ln/>
        </p:spPr>
        <p:txBody>
          <a:bodyPr wrap="none" lIns="0" tIns="0" rIns="0" bIns="0" rtlCol="0" anchor="t"/>
          <a:lstStyle/>
          <a:p>
            <a:pPr marL="0" indent="0" algn="l">
              <a:lnSpc>
                <a:spcPct val="104000"/>
              </a:lnSpc>
              <a:buNone/>
            </a:pPr>
            <a:r>
              <a:rPr lang="en-US" sz="3500" dirty="0">
                <a:solidFill>
                  <a:srgbClr val="1B1B27"/>
                </a:solidFill>
                <a:latin typeface="Raleway" pitchFamily="34" charset="0"/>
                <a:ea typeface="Raleway" pitchFamily="34" charset="-122"/>
                <a:cs typeface="Raleway" pitchFamily="34" charset="-120"/>
              </a:rPr>
              <a:t>Why Naive Fails: Real-World Examples</a:t>
            </a:r>
            <a:endParaRPr lang="en-US" sz="3500" dirty="0"/>
          </a:p>
        </p:txBody>
      </p:sp>
      <p:sp>
        <p:nvSpPr>
          <p:cNvPr id="3" name="Text 1"/>
          <p:cNvSpPr/>
          <p:nvPr/>
        </p:nvSpPr>
        <p:spPr>
          <a:xfrm>
            <a:off x="661475" y="1617166"/>
            <a:ext cx="10868745"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3C3939"/>
                </a:solidFill>
                <a:latin typeface="Roboto" pitchFamily="34" charset="0"/>
                <a:ea typeface="Roboto" pitchFamily="34" charset="-122"/>
                <a:cs typeface="Roboto" pitchFamily="34" charset="-120"/>
              </a:rPr>
              <a:t>The problem with naive string matching is that it keeps re-checking the same characters, which wastes time when the input contains lots of repetition.</a:t>
            </a:r>
            <a:endParaRPr lang="en-US" sz="1400" dirty="0"/>
          </a:p>
        </p:txBody>
      </p:sp>
      <p:sp>
        <p:nvSpPr>
          <p:cNvPr id="4" name="Text 2"/>
          <p:cNvSpPr/>
          <p:nvPr/>
        </p:nvSpPr>
        <p:spPr>
          <a:xfrm>
            <a:off x="661475" y="2544961"/>
            <a:ext cx="4083742" cy="281484"/>
          </a:xfrm>
          <a:prstGeom prst="rect">
            <a:avLst/>
          </a:prstGeom>
          <a:noFill/>
          <a:ln/>
        </p:spPr>
        <p:txBody>
          <a:bodyPr wrap="none" lIns="0" tIns="0" rIns="0" bIns="0" rtlCol="0" anchor="t"/>
          <a:lstStyle/>
          <a:p>
            <a:pPr marL="0" indent="0" algn="l">
              <a:lnSpc>
                <a:spcPct val="104000"/>
              </a:lnSpc>
              <a:buNone/>
            </a:pPr>
            <a:r>
              <a:rPr lang="en-US" sz="1750" dirty="0">
                <a:solidFill>
                  <a:srgbClr val="1B1B27"/>
                </a:solidFill>
                <a:latin typeface="Raleway" pitchFamily="34" charset="0"/>
                <a:ea typeface="Raleway" pitchFamily="34" charset="-122"/>
                <a:cs typeface="Raleway" pitchFamily="34" charset="-120"/>
              </a:rPr>
              <a:t>Log File Searching</a:t>
            </a:r>
            <a:endParaRPr lang="en-US" sz="1750" dirty="0"/>
          </a:p>
        </p:txBody>
      </p:sp>
      <p:sp>
        <p:nvSpPr>
          <p:cNvPr id="5" name="Text 3"/>
          <p:cNvSpPr/>
          <p:nvPr/>
        </p:nvSpPr>
        <p:spPr>
          <a:xfrm>
            <a:off x="661475" y="2998093"/>
            <a:ext cx="4083742" cy="2994720"/>
          </a:xfrm>
          <a:prstGeom prst="rect">
            <a:avLst/>
          </a:prstGeom>
          <a:noFill/>
          <a:ln/>
        </p:spPr>
        <p:txBody>
          <a:bodyPr wrap="square" lIns="0" tIns="0" rIns="0" bIns="0" rtlCol="0" anchor="t">
            <a:normAutofit lnSpcReduction="10000"/>
          </a:bodyPr>
          <a:lstStyle/>
          <a:p>
            <a:pPr marL="0" indent="0" algn="l">
              <a:lnSpc>
                <a:spcPct val="130000"/>
              </a:lnSpc>
              <a:spcAft>
                <a:spcPts val="1200"/>
              </a:spcAft>
              <a:buNone/>
            </a:pPr>
            <a:r>
              <a:rPr lang="en-US" sz="1400" dirty="0">
                <a:solidFill>
                  <a:srgbClr val="3C3939"/>
                </a:solidFill>
                <a:latin typeface="Roboto" pitchFamily="34" charset="0"/>
                <a:ea typeface="Roboto" pitchFamily="34" charset="-122"/>
                <a:cs typeface="Roboto" pitchFamily="34" charset="-120"/>
              </a:rPr>
              <a:t>Imagine searching production logs for an error message during an outage. Log lines often start with repeated timestamps, request IDs, or status prefixes, so naive matching can keep finding the same partial matches over and over before failing at the final character.</a:t>
            </a:r>
            <a:endParaRPr lang="en-US" sz="1400" dirty="0"/>
          </a:p>
          <a:p>
            <a:pPr marL="0" indent="0" algn="l">
              <a:lnSpc>
                <a:spcPct val="130000"/>
              </a:lnSpc>
              <a:buNone/>
            </a:pPr>
            <a:r>
              <a:rPr lang="en-US" sz="1400" dirty="0">
                <a:solidFill>
                  <a:srgbClr val="3C3939"/>
                </a:solidFill>
                <a:latin typeface="Roboto" pitchFamily="34" charset="0"/>
                <a:ea typeface="Roboto" pitchFamily="34" charset="-122"/>
                <a:cs typeface="Roboto" pitchFamily="34" charset="-120"/>
              </a:rPr>
              <a:t>Example pattern: </a:t>
            </a:r>
            <a:r>
              <a:rPr lang="en-US" sz="1400" dirty="0">
                <a:solidFill>
                  <a:srgbClr val="3C3939"/>
                </a:solidFill>
                <a:highlight>
                  <a:srgbClr val="F2F2F2"/>
                </a:highlight>
                <a:latin typeface="Consolas" pitchFamily="34" charset="0"/>
                <a:ea typeface="Consolas" pitchFamily="34" charset="-122"/>
                <a:cs typeface="Consolas" pitchFamily="34" charset="-120"/>
              </a:rPr>
              <a:t>ERROR 500</a:t>
            </a:r>
            <a:r>
              <a:rPr lang="en-US" sz="1400" dirty="0">
                <a:solidFill>
                  <a:srgbClr val="3C3939"/>
                </a:solidFill>
                <a:latin typeface="Roboto" pitchFamily="34" charset="0"/>
                <a:ea typeface="Roboto" pitchFamily="34" charset="-122"/>
                <a:cs typeface="Roboto" pitchFamily="34" charset="-120"/>
              </a:rPr>
              <a:t> inside a log stream full of similar prefixes like </a:t>
            </a:r>
            <a:r>
              <a:rPr lang="en-US" sz="1400" dirty="0">
                <a:solidFill>
                  <a:srgbClr val="3C3939"/>
                </a:solidFill>
                <a:highlight>
                  <a:srgbClr val="F2F2F2"/>
                </a:highlight>
                <a:latin typeface="Consolas" pitchFamily="34" charset="0"/>
                <a:ea typeface="Consolas" pitchFamily="34" charset="-122"/>
                <a:cs typeface="Consolas" pitchFamily="34" charset="-120"/>
              </a:rPr>
              <a:t>2026-08-25 10:31:...</a:t>
            </a:r>
            <a:r>
              <a:rPr lang="en-US" sz="1400" dirty="0">
                <a:solidFill>
                  <a:srgbClr val="3C3939"/>
                </a:solidFill>
                <a:latin typeface="Roboto" pitchFamily="34" charset="0"/>
                <a:ea typeface="Roboto" pitchFamily="34" charset="-122"/>
                <a:cs typeface="Roboto" pitchFamily="34" charset="-120"/>
              </a:rPr>
              <a:t>. Each mismatch near the end forces the algorithm to restart and compare the same characters again.</a:t>
            </a:r>
            <a:endParaRPr lang="en-US" sz="1400" dirty="0"/>
          </a:p>
        </p:txBody>
      </p:sp>
      <p:sp>
        <p:nvSpPr>
          <p:cNvPr id="6" name="Shape 4"/>
          <p:cNvSpPr/>
          <p:nvPr/>
        </p:nvSpPr>
        <p:spPr>
          <a:xfrm>
            <a:off x="5191094" y="2566491"/>
            <a:ext cx="6345376" cy="1243310"/>
          </a:xfrm>
          <a:prstGeom prst="roundRect">
            <a:avLst>
              <a:gd name="adj" fmla="val 6086"/>
            </a:avLst>
          </a:prstGeom>
          <a:solidFill>
            <a:srgbClr val="FCF2B5"/>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5371172" y="2822277"/>
            <a:ext cx="225122" cy="180082"/>
          </a:xfrm>
          <a:prstGeom prst="rect">
            <a:avLst/>
          </a:prstGeom>
        </p:spPr>
      </p:pic>
      <p:sp>
        <p:nvSpPr>
          <p:cNvPr id="8" name="Text 5"/>
          <p:cNvSpPr/>
          <p:nvPr/>
        </p:nvSpPr>
        <p:spPr>
          <a:xfrm>
            <a:off x="5776371" y="2765921"/>
            <a:ext cx="5580022" cy="844451"/>
          </a:xfrm>
          <a:prstGeom prst="rect">
            <a:avLst/>
          </a:prstGeom>
          <a:noFill/>
          <a:ln/>
        </p:spPr>
        <p:txBody>
          <a:bodyPr wrap="square" lIns="0" tIns="0" rIns="0" bIns="0" rtlCol="0" anchor="t">
            <a:normAutofit/>
          </a:bodyPr>
          <a:lstStyle/>
          <a:p>
            <a:pPr marL="0" indent="0" algn="l">
              <a:lnSpc>
                <a:spcPct val="130000"/>
              </a:lnSpc>
              <a:buNone/>
            </a:pPr>
            <a:r>
              <a:rPr lang="en-US" sz="1400" b="1" dirty="0">
                <a:solidFill>
                  <a:srgbClr val="000000"/>
                </a:solidFill>
                <a:latin typeface="Roboto Bold" pitchFamily="34" charset="0"/>
                <a:ea typeface="Roboto Bold" pitchFamily="34" charset="-122"/>
                <a:cs typeface="Roboto Bold" pitchFamily="34" charset="-120"/>
              </a:rPr>
              <a:t>Impact:</a:t>
            </a:r>
            <a:r>
              <a:rPr lang="en-US" sz="1400" dirty="0">
                <a:solidFill>
                  <a:srgbClr val="000000"/>
                </a:solidFill>
                <a:latin typeface="Roboto" pitchFamily="34" charset="0"/>
                <a:ea typeface="Roboto" pitchFamily="34" charset="-122"/>
                <a:cs typeface="Roboto" pitchFamily="34" charset="-120"/>
              </a:rPr>
              <a:t> time wasted on repeated comparisons, higher CPU usage on busy systems, and slower incident response when engineers need answers fast.</a:t>
            </a:r>
            <a:endParaRPr lang="en-US" sz="1400" dirty="0"/>
          </a:p>
        </p:txBody>
      </p:sp>
      <p:sp>
        <p:nvSpPr>
          <p:cNvPr id="9" name="Text 6"/>
          <p:cNvSpPr/>
          <p:nvPr/>
        </p:nvSpPr>
        <p:spPr>
          <a:xfrm>
            <a:off x="5191094" y="4002980"/>
            <a:ext cx="6345376"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3C3939"/>
                </a:solidFill>
                <a:latin typeface="Roboto" pitchFamily="34" charset="0"/>
                <a:ea typeface="Roboto" pitchFamily="34" charset="-122"/>
                <a:cs typeface="Roboto" pitchFamily="34" charset="-120"/>
              </a:rPr>
              <a:t>On large production logs, that extra work can turn a quick search into a noticeable delay — exactly when every second matters.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882775"/>
          </a:xfrm>
          <a:prstGeom prst="rect">
            <a:avLst/>
          </a:prstGeom>
          <a:solidFill>
            <a:srgbClr val="E1E1EA"/>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4796710" y="75307"/>
            <a:ext cx="2598176" cy="1732161"/>
          </a:xfrm>
          <a:prstGeom prst="rect">
            <a:avLst/>
          </a:prstGeom>
        </p:spPr>
      </p:pic>
      <p:sp>
        <p:nvSpPr>
          <p:cNvPr id="4" name="Text 1"/>
          <p:cNvSpPr/>
          <p:nvPr/>
        </p:nvSpPr>
        <p:spPr>
          <a:xfrm>
            <a:off x="661475" y="2431752"/>
            <a:ext cx="10868745" cy="470595"/>
          </a:xfrm>
          <a:prstGeom prst="rect">
            <a:avLst/>
          </a:prstGeom>
          <a:noFill/>
          <a:ln/>
        </p:spPr>
        <p:txBody>
          <a:bodyPr wrap="none" lIns="0" tIns="0" rIns="0" bIns="0" rtlCol="0" anchor="t"/>
          <a:lstStyle/>
          <a:p>
            <a:pPr marL="0" indent="0" algn="l">
              <a:lnSpc>
                <a:spcPct val="104000"/>
              </a:lnSpc>
              <a:buNone/>
            </a:pPr>
            <a:r>
              <a:rPr lang="en-US" sz="2950" dirty="0">
                <a:solidFill>
                  <a:srgbClr val="1B1B27"/>
                </a:solidFill>
                <a:latin typeface="Raleway" pitchFamily="34" charset="0"/>
                <a:ea typeface="Raleway" pitchFamily="34" charset="-122"/>
                <a:cs typeface="Raleway" pitchFamily="34" charset="-120"/>
              </a:rPr>
              <a:t>Real-World Example 2: DNA Sequence Matching</a:t>
            </a:r>
            <a:endParaRPr lang="en-US" sz="2950" dirty="0"/>
          </a:p>
        </p:txBody>
      </p:sp>
      <p:sp>
        <p:nvSpPr>
          <p:cNvPr id="5" name="Text 2"/>
          <p:cNvSpPr/>
          <p:nvPr/>
        </p:nvSpPr>
        <p:spPr>
          <a:xfrm>
            <a:off x="661475" y="3082330"/>
            <a:ext cx="10868745" cy="432991"/>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3C3939"/>
                </a:solidFill>
                <a:latin typeface="Roboto" pitchFamily="34" charset="0"/>
                <a:ea typeface="Roboto" pitchFamily="34" charset="-122"/>
                <a:cs typeface="Roboto" pitchFamily="34" charset="-120"/>
              </a:rPr>
              <a:t>Genetic data, like that found in DNA, contains long repetitive sequences (such as AAAAAA or repeated motifs). Searching through this data requires efficient string matching algorithms.</a:t>
            </a:r>
            <a:endParaRPr lang="en-US" sz="1150" dirty="0"/>
          </a:p>
        </p:txBody>
      </p:sp>
      <p:sp>
        <p:nvSpPr>
          <p:cNvPr id="6" name="Text 3"/>
          <p:cNvSpPr/>
          <p:nvPr/>
        </p:nvSpPr>
        <p:spPr>
          <a:xfrm>
            <a:off x="661475" y="3770213"/>
            <a:ext cx="4127000" cy="235347"/>
          </a:xfrm>
          <a:prstGeom prst="rect">
            <a:avLst/>
          </a:prstGeom>
          <a:noFill/>
          <a:ln/>
        </p:spPr>
        <p:txBody>
          <a:bodyPr wrap="none" lIns="0" tIns="0" rIns="0" bIns="0" rtlCol="0" anchor="t"/>
          <a:lstStyle/>
          <a:p>
            <a:pPr marL="0" indent="0" algn="l">
              <a:lnSpc>
                <a:spcPct val="104000"/>
              </a:lnSpc>
              <a:buNone/>
            </a:pPr>
            <a:r>
              <a:rPr lang="en-US" sz="1450" dirty="0">
                <a:solidFill>
                  <a:srgbClr val="1B1B27"/>
                </a:solidFill>
                <a:latin typeface="Raleway" pitchFamily="34" charset="0"/>
                <a:ea typeface="Raleway" pitchFamily="34" charset="-122"/>
                <a:cs typeface="Raleway" pitchFamily="34" charset="-120"/>
              </a:rPr>
              <a:t>The Scenario</a:t>
            </a:r>
            <a:endParaRPr lang="en-US" sz="1450" dirty="0"/>
          </a:p>
        </p:txBody>
      </p:sp>
      <p:sp>
        <p:nvSpPr>
          <p:cNvPr id="7" name="Text 4"/>
          <p:cNvSpPr/>
          <p:nvPr/>
        </p:nvSpPr>
        <p:spPr>
          <a:xfrm>
            <a:off x="661475" y="4125516"/>
            <a:ext cx="4127000" cy="2075458"/>
          </a:xfrm>
          <a:prstGeom prst="rect">
            <a:avLst/>
          </a:prstGeom>
          <a:noFill/>
          <a:ln/>
        </p:spPr>
        <p:txBody>
          <a:bodyPr wrap="square" lIns="0" tIns="0" rIns="0" bIns="0" rtlCol="0" anchor="t">
            <a:normAutofit/>
          </a:bodyPr>
          <a:lstStyle/>
          <a:p>
            <a:pPr marL="0" indent="0" algn="l">
              <a:lnSpc>
                <a:spcPct val="120000"/>
              </a:lnSpc>
              <a:spcAft>
                <a:spcPts val="800"/>
              </a:spcAft>
              <a:buNone/>
            </a:pPr>
            <a:r>
              <a:rPr lang="en-US" sz="1150" dirty="0">
                <a:solidFill>
                  <a:srgbClr val="3C3939"/>
                </a:solidFill>
                <a:latin typeface="Roboto" pitchFamily="34" charset="0"/>
                <a:ea typeface="Roboto" pitchFamily="34" charset="-122"/>
                <a:cs typeface="Roboto" pitchFamily="34" charset="-120"/>
              </a:rPr>
              <a:t>Imagine searching for a specific gene pattern like </a:t>
            </a:r>
            <a:r>
              <a:rPr lang="en-US" sz="1150" dirty="0">
                <a:solidFill>
                  <a:srgbClr val="3C3939"/>
                </a:solidFill>
                <a:highlight>
                  <a:srgbClr val="F2F2F2"/>
                </a:highlight>
                <a:latin typeface="Consolas" pitchFamily="34" charset="0"/>
                <a:ea typeface="Consolas" pitchFamily="34" charset="-122"/>
                <a:cs typeface="Consolas" pitchFamily="34" charset="-120"/>
              </a:rPr>
              <a:t>ATGCGTATGCATGC</a:t>
            </a:r>
            <a:r>
              <a:rPr lang="en-US" sz="1150" dirty="0">
                <a:solidFill>
                  <a:srgbClr val="3C3939"/>
                </a:solidFill>
                <a:latin typeface="Roboto" pitchFamily="34" charset="0"/>
                <a:ea typeface="Roboto" pitchFamily="34" charset="-122"/>
                <a:cs typeface="Roboto" pitchFamily="34" charset="-120"/>
              </a:rPr>
              <a:t> within a massive genome sequence, which could be billions of base pairs long. Naive string matching struggles immensely here.</a:t>
            </a:r>
            <a:endParaRPr lang="en-US" sz="1150" dirty="0"/>
          </a:p>
          <a:p>
            <a:pPr marL="0" indent="0" algn="l">
              <a:lnSpc>
                <a:spcPct val="120000"/>
              </a:lnSpc>
              <a:buNone/>
            </a:pPr>
            <a:r>
              <a:rPr lang="en-US" sz="1150" dirty="0">
                <a:solidFill>
                  <a:srgbClr val="3C3939"/>
                </a:solidFill>
                <a:latin typeface="Roboto" pitchFamily="34" charset="0"/>
                <a:ea typeface="Roboto" pitchFamily="34" charset="-122"/>
                <a:cs typeface="Roboto" pitchFamily="34" charset="-120"/>
              </a:rPr>
              <a:t>If our pattern is </a:t>
            </a:r>
            <a:r>
              <a:rPr lang="en-US" sz="1150" dirty="0">
                <a:solidFill>
                  <a:srgbClr val="3C3939"/>
                </a:solidFill>
                <a:highlight>
                  <a:srgbClr val="F2F2F2"/>
                </a:highlight>
                <a:latin typeface="Consolas" pitchFamily="34" charset="0"/>
                <a:ea typeface="Consolas" pitchFamily="34" charset="-122"/>
                <a:cs typeface="Consolas" pitchFamily="34" charset="-120"/>
              </a:rPr>
              <a:t>AAAAAG</a:t>
            </a:r>
            <a:r>
              <a:rPr lang="en-US" sz="1150" dirty="0">
                <a:solidFill>
                  <a:srgbClr val="3C3939"/>
                </a:solidFill>
                <a:latin typeface="Roboto" pitchFamily="34" charset="0"/>
                <a:ea typeface="Roboto" pitchFamily="34" charset="-122"/>
                <a:cs typeface="Roboto" pitchFamily="34" charset="-120"/>
              </a:rPr>
              <a:t> and the text contains long stretches of </a:t>
            </a:r>
            <a:r>
              <a:rPr lang="en-US" sz="1150" dirty="0">
                <a:solidFill>
                  <a:srgbClr val="3C3939"/>
                </a:solidFill>
                <a:highlight>
                  <a:srgbClr val="F2F2F2"/>
                </a:highlight>
                <a:latin typeface="Consolas" pitchFamily="34" charset="0"/>
                <a:ea typeface="Consolas" pitchFamily="34" charset="-122"/>
                <a:cs typeface="Consolas" pitchFamily="34" charset="-120"/>
              </a:rPr>
              <a:t>AAAAAAA...</a:t>
            </a:r>
            <a:r>
              <a:rPr lang="en-US" sz="1150" dirty="0">
                <a:solidFill>
                  <a:srgbClr val="3C3939"/>
                </a:solidFill>
                <a:latin typeface="Roboto" pitchFamily="34" charset="0"/>
                <a:ea typeface="Roboto" pitchFamily="34" charset="-122"/>
                <a:cs typeface="Roboto" pitchFamily="34" charset="-120"/>
              </a:rPr>
              <a:t>, the naive algorithm will keep comparing the same bases over and over before failing near the end of the pattern (at the 'G'). It then shifts by only one position and repeats the same set of comparisons.</a:t>
            </a:r>
            <a:endParaRPr lang="en-US" sz="1150" dirty="0"/>
          </a:p>
        </p:txBody>
      </p:sp>
      <p:sp>
        <p:nvSpPr>
          <p:cNvPr id="8" name="Shape 5"/>
          <p:cNvSpPr/>
          <p:nvPr/>
        </p:nvSpPr>
        <p:spPr>
          <a:xfrm>
            <a:off x="5162322" y="3785195"/>
            <a:ext cx="6374248" cy="940594"/>
          </a:xfrm>
          <a:prstGeom prst="roundRect">
            <a:avLst>
              <a:gd name="adj" fmla="val 6726"/>
            </a:avLst>
          </a:prstGeom>
          <a:solidFill>
            <a:srgbClr val="FCF2B5"/>
          </a:solidFill>
          <a:ln/>
        </p:spPr>
        <p:txBody>
          <a:bodyPr/>
          <a:lstStyle/>
          <a:p>
            <a:endParaRPr lang="en-IN"/>
          </a:p>
        </p:txBody>
      </p:sp>
      <p:pic>
        <p:nvPicPr>
          <p:cNvPr id="9" name="Image 1" descr="preencoded.png"/>
          <p:cNvPicPr>
            <a:picLocks noChangeAspect="1"/>
          </p:cNvPicPr>
          <p:nvPr/>
        </p:nvPicPr>
        <p:blipFill>
          <a:blip r:embed="rId4"/>
          <a:stretch>
            <a:fillRect/>
          </a:stretch>
        </p:blipFill>
        <p:spPr>
          <a:xfrm>
            <a:off x="5312932" y="3969643"/>
            <a:ext cx="188213" cy="150614"/>
          </a:xfrm>
          <a:prstGeom prst="rect">
            <a:avLst/>
          </a:prstGeom>
        </p:spPr>
      </p:pic>
      <p:sp>
        <p:nvSpPr>
          <p:cNvPr id="10" name="Text 6"/>
          <p:cNvSpPr/>
          <p:nvPr/>
        </p:nvSpPr>
        <p:spPr>
          <a:xfrm>
            <a:off x="5651755" y="3930749"/>
            <a:ext cx="5734204" cy="649486"/>
          </a:xfrm>
          <a:prstGeom prst="rect">
            <a:avLst/>
          </a:prstGeom>
          <a:noFill/>
          <a:ln/>
        </p:spPr>
        <p:txBody>
          <a:bodyPr wrap="square" lIns="0" tIns="0" rIns="0" bIns="0" rtlCol="0" anchor="t">
            <a:normAutofit/>
          </a:bodyPr>
          <a:lstStyle/>
          <a:p>
            <a:pPr marL="0" indent="0" algn="l">
              <a:lnSpc>
                <a:spcPct val="120000"/>
              </a:lnSpc>
              <a:buNone/>
            </a:pPr>
            <a:r>
              <a:rPr lang="en-US" sz="1150" b="1" dirty="0">
                <a:solidFill>
                  <a:srgbClr val="000000"/>
                </a:solidFill>
                <a:latin typeface="Roboto Bold" pitchFamily="34" charset="0"/>
                <a:ea typeface="Roboto Bold" pitchFamily="34" charset="-122"/>
                <a:cs typeface="Roboto Bold" pitchFamily="34" charset="-120"/>
              </a:rPr>
              <a:t>Impact:</a:t>
            </a:r>
            <a:r>
              <a:rPr lang="en-US" sz="1150" dirty="0">
                <a:solidFill>
                  <a:srgbClr val="000000"/>
                </a:solidFill>
                <a:latin typeface="Roboto" pitchFamily="34" charset="0"/>
                <a:ea typeface="Roboto" pitchFamily="34" charset="-122"/>
                <a:cs typeface="Roboto" pitchFamily="34" charset="-120"/>
              </a:rPr>
              <a:t> Wasted compute resources on very large genomes (billions of base pairs), significantly longer analysis times for crucial biological insights, and higher CPU usage on bioinformatics clusters.</a:t>
            </a:r>
            <a:endParaRPr lang="en-US" sz="1150" dirty="0"/>
          </a:p>
        </p:txBody>
      </p:sp>
      <p:sp>
        <p:nvSpPr>
          <p:cNvPr id="11" name="Text 7"/>
          <p:cNvSpPr/>
          <p:nvPr/>
        </p:nvSpPr>
        <p:spPr>
          <a:xfrm>
            <a:off x="5162322" y="4860727"/>
            <a:ext cx="6374248" cy="865981"/>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3C3939"/>
                </a:solidFill>
                <a:latin typeface="Roboto" pitchFamily="34" charset="0"/>
                <a:ea typeface="Roboto" pitchFamily="34" charset="-122"/>
                <a:cs typeface="Roboto" pitchFamily="34" charset="-120"/>
              </a:rPr>
              <a:t>For CS students interested in bioinformatics or data science, understanding these algorithmic inefficiencies is critical. Choosing the wrong algorithm can mean the difference between a research project completing in minutes or grinding on for days, delaying breakthroughs in genetic research or drug discovery.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52847"/>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1B1B27"/>
                </a:solidFill>
                <a:latin typeface="Raleway" pitchFamily="34" charset="0"/>
                <a:ea typeface="Raleway" pitchFamily="34" charset="-122"/>
                <a:cs typeface="Raleway" pitchFamily="34" charset="-120"/>
              </a:rPr>
              <a:t>KMP: The Failure Function Insight</a:t>
            </a:r>
            <a:endParaRPr lang="en-US" sz="3450" dirty="0"/>
          </a:p>
        </p:txBody>
      </p:sp>
      <p:sp>
        <p:nvSpPr>
          <p:cNvPr id="3" name="Text 1"/>
          <p:cNvSpPr/>
          <p:nvPr/>
        </p:nvSpPr>
        <p:spPr>
          <a:xfrm>
            <a:off x="661475" y="1438771"/>
            <a:ext cx="10868745"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3C3939"/>
                </a:solidFill>
                <a:latin typeface="Roboto" pitchFamily="34" charset="0"/>
                <a:ea typeface="Roboto" pitchFamily="34" charset="-122"/>
                <a:cs typeface="Roboto" pitchFamily="34" charset="-120"/>
              </a:rPr>
              <a:t>The </a:t>
            </a:r>
            <a:r>
              <a:rPr lang="en-US" sz="1350" b="1" dirty="0">
                <a:solidFill>
                  <a:srgbClr val="3C3939"/>
                </a:solidFill>
                <a:latin typeface="Roboto Bold" pitchFamily="34" charset="0"/>
                <a:ea typeface="Roboto Bold" pitchFamily="34" charset="-122"/>
                <a:cs typeface="Roboto Bold" pitchFamily="34" charset="-120"/>
              </a:rPr>
              <a:t>failure function</a:t>
            </a:r>
            <a:r>
              <a:rPr lang="en-US" sz="1350" dirty="0">
                <a:solidFill>
                  <a:srgbClr val="3C3939"/>
                </a:solidFill>
                <a:latin typeface="Roboto" pitchFamily="34" charset="0"/>
                <a:ea typeface="Roboto" pitchFamily="34" charset="-122"/>
                <a:cs typeface="Roboto" pitchFamily="34" charset="-120"/>
              </a:rPr>
              <a:t>, also called the </a:t>
            </a:r>
            <a:r>
              <a:rPr lang="en-US" sz="1350" b="1" dirty="0">
                <a:solidFill>
                  <a:srgbClr val="3C3939"/>
                </a:solidFill>
                <a:latin typeface="Roboto Bold" pitchFamily="34" charset="0"/>
                <a:ea typeface="Roboto Bold" pitchFamily="34" charset="-122"/>
                <a:cs typeface="Roboto Bold" pitchFamily="34" charset="-120"/>
              </a:rPr>
              <a:t>LPS table</a:t>
            </a:r>
            <a:r>
              <a:rPr lang="en-US" sz="1350" dirty="0">
                <a:solidFill>
                  <a:srgbClr val="3C3939"/>
                </a:solidFill>
                <a:latin typeface="Roboto" pitchFamily="34" charset="0"/>
                <a:ea typeface="Roboto" pitchFamily="34" charset="-122"/>
                <a:cs typeface="Roboto" pitchFamily="34" charset="-120"/>
              </a:rPr>
              <a:t>, tells KMP how much of the pattern can be reused after a mismatch. Instead of starting over, KMP jumps to the next best match position.</a:t>
            </a:r>
            <a:endParaRPr lang="en-US" sz="1350" dirty="0"/>
          </a:p>
        </p:txBody>
      </p:sp>
      <p:sp>
        <p:nvSpPr>
          <p:cNvPr id="4" name="Text 2"/>
          <p:cNvSpPr/>
          <p:nvPr/>
        </p:nvSpPr>
        <p:spPr>
          <a:xfrm>
            <a:off x="661475" y="2174875"/>
            <a:ext cx="10868745" cy="1272977"/>
          </a:xfrm>
          <a:prstGeom prst="rect">
            <a:avLst/>
          </a:prstGeom>
          <a:noFill/>
          <a:ln/>
        </p:spPr>
        <p:txBody>
          <a:bodyPr wrap="square" lIns="0" tIns="70882" rIns="0" bIns="0" rtlCol="0" anchor="t">
            <a:normAutofit/>
          </a:bodyPr>
          <a:lstStyle/>
          <a:p>
            <a:pPr marL="274320" indent="-274320" algn="l">
              <a:lnSpc>
                <a:spcPct val="129000"/>
              </a:lnSpc>
              <a:buSzPct val="100000"/>
              <a:buChar char="•"/>
            </a:pPr>
            <a:r>
              <a:rPr lang="en-US" sz="1350" b="1" dirty="0">
                <a:solidFill>
                  <a:srgbClr val="3C3939"/>
                </a:solidFill>
                <a:latin typeface="Roboto Bold" pitchFamily="34" charset="0"/>
                <a:ea typeface="Roboto Bold" pitchFamily="34" charset="-122"/>
                <a:cs typeface="Roboto Bold" pitchFamily="34" charset="-120"/>
              </a:rPr>
              <a:t>What is LPS?</a:t>
            </a:r>
            <a:r>
              <a:rPr lang="en-US" sz="1350" dirty="0">
                <a:solidFill>
                  <a:srgbClr val="3C3939"/>
                </a:solidFill>
                <a:latin typeface="Roboto" pitchFamily="34" charset="0"/>
                <a:ea typeface="Roboto" pitchFamily="34" charset="-122"/>
                <a:cs typeface="Roboto" pitchFamily="34" charset="-120"/>
              </a:rPr>
              <a:t> LPS stands for </a:t>
            </a:r>
            <a:r>
              <a:rPr lang="en-US" sz="1350" b="1" dirty="0">
                <a:solidFill>
                  <a:srgbClr val="3C3939"/>
                </a:solidFill>
                <a:latin typeface="Roboto Bold" pitchFamily="34" charset="0"/>
                <a:ea typeface="Roboto Bold" pitchFamily="34" charset="-122"/>
                <a:cs typeface="Roboto Bold" pitchFamily="34" charset="-120"/>
              </a:rPr>
              <a:t>Longest Proper Prefix that is also a Suffix</a:t>
            </a:r>
            <a:r>
              <a:rPr lang="en-US" sz="1350" dirty="0">
                <a:solidFill>
                  <a:srgbClr val="3C3939"/>
                </a:solidFill>
                <a:latin typeface="Roboto" pitchFamily="34" charset="0"/>
                <a:ea typeface="Roboto" pitchFamily="34" charset="-122"/>
                <a:cs typeface="Roboto" pitchFamily="34" charset="-120"/>
              </a:rPr>
              <a:t>.</a:t>
            </a:r>
            <a:endParaRPr lang="en-US" sz="1350" dirty="0"/>
          </a:p>
          <a:p>
            <a:pPr marL="274320" indent="-274320" algn="l">
              <a:lnSpc>
                <a:spcPct val="129000"/>
              </a:lnSpc>
              <a:buSzPct val="100000"/>
              <a:buChar char="•"/>
            </a:pPr>
            <a:r>
              <a:rPr lang="en-US" sz="1350" b="1" dirty="0">
                <a:solidFill>
                  <a:srgbClr val="3C3939"/>
                </a:solidFill>
                <a:latin typeface="Roboto Bold" pitchFamily="34" charset="0"/>
                <a:ea typeface="Roboto Bold" pitchFamily="34" charset="-122"/>
                <a:cs typeface="Roboto Bold" pitchFamily="34" charset="-120"/>
              </a:rPr>
              <a:t>Why do we need it?</a:t>
            </a:r>
            <a:r>
              <a:rPr lang="en-US" sz="1350" dirty="0">
                <a:solidFill>
                  <a:srgbClr val="3C3939"/>
                </a:solidFill>
                <a:latin typeface="Roboto" pitchFamily="34" charset="0"/>
                <a:ea typeface="Roboto" pitchFamily="34" charset="-122"/>
                <a:cs typeface="Roboto" pitchFamily="34" charset="-120"/>
              </a:rPr>
              <a:t> It tells us where to jump when the current match fails.</a:t>
            </a:r>
            <a:endParaRPr lang="en-US" sz="1350" dirty="0"/>
          </a:p>
          <a:p>
            <a:pPr marL="274320" indent="-274320" algn="l">
              <a:lnSpc>
                <a:spcPct val="129000"/>
              </a:lnSpc>
              <a:buSzPct val="100000"/>
              <a:buChar char="•"/>
            </a:pPr>
            <a:r>
              <a:rPr lang="en-US" sz="1350" b="1" dirty="0">
                <a:solidFill>
                  <a:srgbClr val="3C3939"/>
                </a:solidFill>
                <a:latin typeface="Roboto Bold" pitchFamily="34" charset="0"/>
                <a:ea typeface="Roboto Bold" pitchFamily="34" charset="-122"/>
                <a:cs typeface="Roboto Bold" pitchFamily="34" charset="-120"/>
              </a:rPr>
              <a:t>How does it work?</a:t>
            </a:r>
            <a:r>
              <a:rPr lang="en-US" sz="1350" dirty="0">
                <a:solidFill>
                  <a:srgbClr val="3C3939"/>
                </a:solidFill>
                <a:latin typeface="Roboto" pitchFamily="34" charset="0"/>
                <a:ea typeface="Roboto" pitchFamily="34" charset="-122"/>
                <a:cs typeface="Roboto" pitchFamily="34" charset="-120"/>
              </a:rPr>
              <a:t> We precompute a table for the pattern before searching the text.</a:t>
            </a:r>
            <a:endParaRPr lang="en-US" sz="1350" dirty="0"/>
          </a:p>
          <a:p>
            <a:pPr marL="274320" indent="-274320" algn="l">
              <a:lnSpc>
                <a:spcPct val="129000"/>
              </a:lnSpc>
              <a:buSzPct val="100000"/>
              <a:buChar char="•"/>
            </a:pPr>
            <a:r>
              <a:rPr lang="en-US" sz="1350" b="1" dirty="0">
                <a:solidFill>
                  <a:srgbClr val="3C3939"/>
                </a:solidFill>
                <a:latin typeface="Roboto Bold" pitchFamily="34" charset="0"/>
                <a:ea typeface="Roboto Bold" pitchFamily="34" charset="-122"/>
                <a:cs typeface="Roboto Bold" pitchFamily="34" charset="-120"/>
              </a:rPr>
              <a:t>What does it tell us?</a:t>
            </a:r>
            <a:r>
              <a:rPr lang="en-US" sz="1350" dirty="0">
                <a:solidFill>
                  <a:srgbClr val="3C3939"/>
                </a:solidFill>
                <a:latin typeface="Roboto" pitchFamily="34" charset="0"/>
                <a:ea typeface="Roboto" pitchFamily="34" charset="-122"/>
                <a:cs typeface="Roboto" pitchFamily="34" charset="-120"/>
              </a:rPr>
              <a:t> It shows how many characters can be reused after a mismatch.</a:t>
            </a:r>
            <a:endParaRPr lang="en-US" sz="1350" dirty="0"/>
          </a:p>
        </p:txBody>
      </p:sp>
      <p:sp>
        <p:nvSpPr>
          <p:cNvPr id="5" name="Text 3"/>
          <p:cNvSpPr/>
          <p:nvPr/>
        </p:nvSpPr>
        <p:spPr>
          <a:xfrm>
            <a:off x="661475" y="3696990"/>
            <a:ext cx="10868745" cy="276920"/>
          </a:xfrm>
          <a:prstGeom prst="rect">
            <a:avLst/>
          </a:prstGeom>
          <a:noFill/>
          <a:ln/>
        </p:spPr>
        <p:txBody>
          <a:bodyPr wrap="none" lIns="0" tIns="0" rIns="0" bIns="0" rtlCol="0" anchor="t"/>
          <a:lstStyle/>
          <a:p>
            <a:pPr marL="0" indent="0" algn="l">
              <a:lnSpc>
                <a:spcPct val="104000"/>
              </a:lnSpc>
              <a:buNone/>
            </a:pPr>
            <a:r>
              <a:rPr lang="en-US" sz="1700" dirty="0">
                <a:solidFill>
                  <a:srgbClr val="1B1B27"/>
                </a:solidFill>
                <a:latin typeface="Raleway" pitchFamily="34" charset="0"/>
                <a:ea typeface="Raleway" pitchFamily="34" charset="-122"/>
                <a:cs typeface="Raleway" pitchFamily="34" charset="-120"/>
              </a:rPr>
              <a:t>Example: AAAAB</a:t>
            </a:r>
            <a:endParaRPr lang="en-US" sz="1700" dirty="0"/>
          </a:p>
        </p:txBody>
      </p:sp>
      <p:sp>
        <p:nvSpPr>
          <p:cNvPr id="6" name="Text 4"/>
          <p:cNvSpPr/>
          <p:nvPr/>
        </p:nvSpPr>
        <p:spPr>
          <a:xfrm>
            <a:off x="661475" y="4223048"/>
            <a:ext cx="10868745" cy="748804"/>
          </a:xfrm>
          <a:prstGeom prst="rect">
            <a:avLst/>
          </a:prstGeom>
          <a:noFill/>
          <a:ln/>
        </p:spPr>
        <p:txBody>
          <a:bodyPr wrap="square" lIns="0" tIns="0" rIns="0" bIns="0" rtlCol="0" anchor="t"/>
          <a:lstStyle/>
          <a:p>
            <a:pPr marL="0" indent="0" algn="l">
              <a:lnSpc>
                <a:spcPct val="129000"/>
              </a:lnSpc>
              <a:spcAft>
                <a:spcPts val="1450"/>
              </a:spcAft>
              <a:buNone/>
            </a:pPr>
            <a:r>
              <a:rPr lang="en-US" sz="1350" dirty="0">
                <a:solidFill>
                  <a:srgbClr val="3C3939"/>
                </a:solidFill>
                <a:latin typeface="Roboto" pitchFamily="34" charset="0"/>
                <a:ea typeface="Roboto" pitchFamily="34" charset="-122"/>
                <a:cs typeface="Roboto" pitchFamily="34" charset="-120"/>
              </a:rPr>
              <a:t>For the pattern </a:t>
            </a:r>
            <a:r>
              <a:rPr lang="en-US" sz="1350" dirty="0">
                <a:solidFill>
                  <a:srgbClr val="3C3939"/>
                </a:solidFill>
                <a:highlight>
                  <a:srgbClr val="F2F2F2"/>
                </a:highlight>
                <a:latin typeface="Consolas" pitchFamily="34" charset="0"/>
                <a:ea typeface="Consolas" pitchFamily="34" charset="-122"/>
                <a:cs typeface="Consolas" pitchFamily="34" charset="-120"/>
              </a:rPr>
              <a:t>AAAAB</a:t>
            </a:r>
            <a:r>
              <a:rPr lang="en-US" sz="1350" dirty="0">
                <a:solidFill>
                  <a:srgbClr val="3C3939"/>
                </a:solidFill>
                <a:latin typeface="Roboto" pitchFamily="34" charset="0"/>
                <a:ea typeface="Roboto" pitchFamily="34" charset="-122"/>
                <a:cs typeface="Roboto" pitchFamily="34" charset="-120"/>
              </a:rPr>
              <a:t>, the LPS table is </a:t>
            </a:r>
            <a:r>
              <a:rPr lang="en-US" sz="1350" dirty="0">
                <a:solidFill>
                  <a:srgbClr val="3C3939"/>
                </a:solidFill>
                <a:highlight>
                  <a:srgbClr val="F2F2F2"/>
                </a:highlight>
                <a:latin typeface="Consolas" pitchFamily="34" charset="0"/>
                <a:ea typeface="Consolas" pitchFamily="34" charset="-122"/>
                <a:cs typeface="Consolas" pitchFamily="34" charset="-120"/>
              </a:rPr>
              <a:t>[0, 1, 2, 3, 0]</a:t>
            </a:r>
            <a:r>
              <a:rPr lang="en-US" sz="1350" dirty="0">
                <a:solidFill>
                  <a:srgbClr val="3C3939"/>
                </a:solidFill>
                <a:latin typeface="Roboto" pitchFamily="34" charset="0"/>
                <a:ea typeface="Roboto" pitchFamily="34" charset="-122"/>
                <a:cs typeface="Roboto" pitchFamily="34" charset="-120"/>
              </a:rPr>
              <a:t>.</a:t>
            </a:r>
            <a:endParaRPr lang="en-US" sz="1350" dirty="0"/>
          </a:p>
          <a:p>
            <a:pPr marL="0" indent="0" algn="l">
              <a:lnSpc>
                <a:spcPct val="129000"/>
              </a:lnSpc>
              <a:buNone/>
            </a:pPr>
            <a:r>
              <a:rPr lang="en-US" sz="1350" dirty="0">
                <a:solidFill>
                  <a:srgbClr val="3C3939"/>
                </a:solidFill>
                <a:latin typeface="Roboto" pitchFamily="34" charset="0"/>
                <a:ea typeface="Roboto" pitchFamily="34" charset="-122"/>
                <a:cs typeface="Roboto" pitchFamily="34" charset="-120"/>
              </a:rPr>
              <a:t>This means the first four characters build on repeated prefixes, but the final </a:t>
            </a:r>
            <a:r>
              <a:rPr lang="en-US" sz="1350" dirty="0">
                <a:solidFill>
                  <a:srgbClr val="3C3939"/>
                </a:solidFill>
                <a:highlight>
                  <a:srgbClr val="F2F2F2"/>
                </a:highlight>
                <a:latin typeface="Consolas" pitchFamily="34" charset="0"/>
                <a:ea typeface="Consolas" pitchFamily="34" charset="-122"/>
                <a:cs typeface="Consolas" pitchFamily="34" charset="-120"/>
              </a:rPr>
              <a:t>B</a:t>
            </a:r>
            <a:r>
              <a:rPr lang="en-US" sz="1350" dirty="0">
                <a:solidFill>
                  <a:srgbClr val="3C3939"/>
                </a:solidFill>
                <a:latin typeface="Roboto" pitchFamily="34" charset="0"/>
                <a:ea typeface="Roboto" pitchFamily="34" charset="-122"/>
                <a:cs typeface="Roboto" pitchFamily="34" charset="-120"/>
              </a:rPr>
              <a:t> breaks the pattern and resets reuse to 0.</a:t>
            </a:r>
            <a:endParaRPr lang="en-US" sz="1350" dirty="0"/>
          </a:p>
        </p:txBody>
      </p:sp>
      <p:sp>
        <p:nvSpPr>
          <p:cNvPr id="7" name="Shape 5"/>
          <p:cNvSpPr/>
          <p:nvPr/>
        </p:nvSpPr>
        <p:spPr>
          <a:xfrm>
            <a:off x="661475" y="5158680"/>
            <a:ext cx="10868745" cy="678656"/>
          </a:xfrm>
          <a:prstGeom prst="roundRect">
            <a:avLst>
              <a:gd name="adj" fmla="val 10967"/>
            </a:avLst>
          </a:prstGeom>
          <a:solidFill>
            <a:srgbClr val="E1E1EA"/>
          </a:solidFill>
          <a:ln/>
        </p:spPr>
        <p:txBody>
          <a:bodyPr/>
          <a:lstStyle/>
          <a:p>
            <a:endParaRPr lang="en-IN"/>
          </a:p>
        </p:txBody>
      </p:sp>
      <p:pic>
        <p:nvPicPr>
          <p:cNvPr id="8" name="Image 0" descr="preencoded.png"/>
          <p:cNvPicPr>
            <a:picLocks noChangeAspect="1"/>
          </p:cNvPicPr>
          <p:nvPr/>
        </p:nvPicPr>
        <p:blipFill>
          <a:blip r:embed="rId3"/>
          <a:stretch>
            <a:fillRect/>
          </a:stretch>
        </p:blipFill>
        <p:spPr>
          <a:xfrm>
            <a:off x="838675" y="5398095"/>
            <a:ext cx="221451" cy="177205"/>
          </a:xfrm>
          <a:prstGeom prst="rect">
            <a:avLst/>
          </a:prstGeom>
        </p:spPr>
      </p:pic>
      <p:sp>
        <p:nvSpPr>
          <p:cNvPr id="9" name="Text 6"/>
          <p:cNvSpPr/>
          <p:nvPr/>
        </p:nvSpPr>
        <p:spPr>
          <a:xfrm>
            <a:off x="1237326" y="5369024"/>
            <a:ext cx="10725279" cy="274638"/>
          </a:xfrm>
          <a:prstGeom prst="rect">
            <a:avLst/>
          </a:prstGeom>
          <a:noFill/>
          <a:ln/>
        </p:spPr>
        <p:txBody>
          <a:bodyPr wrap="none" lIns="0" tIns="0" rIns="0" bIns="0" rtlCol="0" anchor="t"/>
          <a:lstStyle/>
          <a:p>
            <a:pPr marL="0" indent="0" algn="l">
              <a:lnSpc>
                <a:spcPct val="129000"/>
              </a:lnSpc>
              <a:buNone/>
            </a:pPr>
            <a:r>
              <a:rPr lang="en-US" sz="1350" b="1" dirty="0">
                <a:solidFill>
                  <a:srgbClr val="000000"/>
                </a:solidFill>
                <a:latin typeface="Roboto Bold" pitchFamily="34" charset="0"/>
                <a:ea typeface="Roboto Bold" pitchFamily="34" charset="-122"/>
                <a:cs typeface="Roboto Bold" pitchFamily="34" charset="-120"/>
              </a:rPr>
              <a:t>Main advantage:</a:t>
            </a:r>
            <a:r>
              <a:rPr lang="en-US" sz="1350" dirty="0">
                <a:solidFill>
                  <a:srgbClr val="000000"/>
                </a:solidFill>
                <a:latin typeface="Roboto" pitchFamily="34" charset="0"/>
                <a:ea typeface="Roboto" pitchFamily="34" charset="-122"/>
                <a:cs typeface="Roboto" pitchFamily="34" charset="-120"/>
              </a:rPr>
              <a:t> The text pointer never moves backward.</a:t>
            </a:r>
            <a:endParaRPr lang="en-US" sz="1350" dirty="0"/>
          </a:p>
        </p:txBody>
      </p:sp>
      <p:sp>
        <p:nvSpPr>
          <p:cNvPr id="10" name="Text 7"/>
          <p:cNvSpPr/>
          <p:nvPr/>
        </p:nvSpPr>
        <p:spPr>
          <a:xfrm>
            <a:off x="661475" y="6024166"/>
            <a:ext cx="11478330" cy="280988"/>
          </a:xfrm>
          <a:prstGeom prst="rect">
            <a:avLst/>
          </a:prstGeom>
          <a:noFill/>
          <a:ln/>
        </p:spPr>
        <p:txBody>
          <a:bodyPr wrap="none" lIns="0" tIns="0" rIns="0" bIns="0" rtlCol="0" anchor="t"/>
          <a:lstStyle/>
          <a:p>
            <a:pPr marL="0" indent="0" algn="l">
              <a:lnSpc>
                <a:spcPct val="129000"/>
              </a:lnSpc>
              <a:buNone/>
            </a:pPr>
            <a:r>
              <a:rPr lang="en-US" sz="1350" dirty="0">
                <a:solidFill>
                  <a:srgbClr val="3C3939"/>
                </a:solidFill>
                <a:latin typeface="Roboto" pitchFamily="34" charset="0"/>
                <a:ea typeface="Roboto" pitchFamily="34" charset="-122"/>
                <a:cs typeface="Roboto" pitchFamily="34" charset="-120"/>
              </a:rPr>
              <a:t>Because KMP uses the LPS table, it runs in </a:t>
            </a:r>
            <a:r>
              <a:rPr lang="en-US" sz="1350" b="1" dirty="0">
                <a:solidFill>
                  <a:srgbClr val="3C3939"/>
                </a:solidFill>
                <a:latin typeface="Roboto Bold" pitchFamily="34" charset="0"/>
                <a:ea typeface="Roboto Bold" pitchFamily="34" charset="-122"/>
                <a:cs typeface="Roboto Bold" pitchFamily="34" charset="-120"/>
              </a:rPr>
              <a:t>O(n + m)</a:t>
            </a:r>
            <a:r>
              <a:rPr lang="en-US" sz="1350" dirty="0">
                <a:solidFill>
                  <a:srgbClr val="3C3939"/>
                </a:solidFill>
                <a:latin typeface="Roboto" pitchFamily="34" charset="0"/>
                <a:ea typeface="Roboto" pitchFamily="34" charset="-122"/>
                <a:cs typeface="Roboto" pitchFamily="34" charset="-120"/>
              </a:rPr>
              <a:t> time, where </a:t>
            </a:r>
            <a:r>
              <a:rPr lang="en-US" sz="1350" dirty="0">
                <a:solidFill>
                  <a:srgbClr val="3C3939"/>
                </a:solidFill>
                <a:highlight>
                  <a:srgbClr val="F2F2F2"/>
                </a:highlight>
                <a:latin typeface="Consolas" pitchFamily="34" charset="0"/>
                <a:ea typeface="Consolas" pitchFamily="34" charset="-122"/>
                <a:cs typeface="Consolas" pitchFamily="34" charset="-120"/>
              </a:rPr>
              <a:t>n</a:t>
            </a:r>
            <a:r>
              <a:rPr lang="en-US" sz="1350" dirty="0">
                <a:solidFill>
                  <a:srgbClr val="3C3939"/>
                </a:solidFill>
                <a:latin typeface="Roboto" pitchFamily="34" charset="0"/>
                <a:ea typeface="Roboto" pitchFamily="34" charset="-122"/>
                <a:cs typeface="Roboto" pitchFamily="34" charset="-120"/>
              </a:rPr>
              <a:t> is the text length and </a:t>
            </a:r>
            <a:r>
              <a:rPr lang="en-US" sz="1350" dirty="0">
                <a:solidFill>
                  <a:srgbClr val="3C3939"/>
                </a:solidFill>
                <a:highlight>
                  <a:srgbClr val="F2F2F2"/>
                </a:highlight>
                <a:latin typeface="Consolas" pitchFamily="34" charset="0"/>
                <a:ea typeface="Consolas" pitchFamily="34" charset="-122"/>
                <a:cs typeface="Consolas" pitchFamily="34" charset="-120"/>
              </a:rPr>
              <a:t>m</a:t>
            </a:r>
            <a:r>
              <a:rPr lang="en-US" sz="1350" dirty="0">
                <a:solidFill>
                  <a:srgbClr val="3C3939"/>
                </a:solidFill>
                <a:latin typeface="Roboto" pitchFamily="34" charset="0"/>
                <a:ea typeface="Roboto" pitchFamily="34" charset="-122"/>
                <a:cs typeface="Roboto" pitchFamily="34" charset="-120"/>
              </a:rPr>
              <a:t> is the pattern length.</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983184"/>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Key Takeaways</a:t>
            </a:r>
            <a:endParaRPr lang="en-US" sz="3700" dirty="0"/>
          </a:p>
        </p:txBody>
      </p:sp>
      <p:sp>
        <p:nvSpPr>
          <p:cNvPr id="3" name="Text 1"/>
          <p:cNvSpPr/>
          <p:nvPr/>
        </p:nvSpPr>
        <p:spPr>
          <a:xfrm>
            <a:off x="661475" y="2951857"/>
            <a:ext cx="10868745" cy="1407914"/>
          </a:xfrm>
          <a:prstGeom prst="rect">
            <a:avLst/>
          </a:prstGeom>
          <a:noFill/>
          <a:ln/>
        </p:spPr>
        <p:txBody>
          <a:bodyPr wrap="square" lIns="0" tIns="75608" rIns="0" bIns="0" rtlCol="0" anchor="t">
            <a:normAutofit/>
          </a:bodyPr>
          <a:lstStyle/>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Use </a:t>
            </a:r>
            <a:r>
              <a:rPr lang="en-US" sz="1450" b="1" dirty="0">
                <a:solidFill>
                  <a:srgbClr val="3C3939"/>
                </a:solidFill>
                <a:latin typeface="Roboto Bold" pitchFamily="34" charset="0"/>
                <a:ea typeface="Roboto Bold" pitchFamily="34" charset="-122"/>
                <a:cs typeface="Roboto Bold" pitchFamily="34" charset="-120"/>
              </a:rPr>
              <a:t>KMP</a:t>
            </a:r>
            <a:r>
              <a:rPr lang="en-US" sz="1450" dirty="0">
                <a:solidFill>
                  <a:srgbClr val="3C3939"/>
                </a:solidFill>
                <a:latin typeface="Roboto" pitchFamily="34" charset="0"/>
                <a:ea typeface="Roboto" pitchFamily="34" charset="-122"/>
                <a:cs typeface="Roboto" pitchFamily="34" charset="-120"/>
              </a:rPr>
              <a:t> when you need fast pattern matching with no backtracking in the text.</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Use </a:t>
            </a:r>
            <a:r>
              <a:rPr lang="en-US" sz="1450" b="1" dirty="0">
                <a:solidFill>
                  <a:srgbClr val="3C3939"/>
                </a:solidFill>
                <a:latin typeface="Roboto Bold" pitchFamily="34" charset="0"/>
                <a:ea typeface="Roboto Bold" pitchFamily="34" charset="-122"/>
                <a:cs typeface="Roboto Bold" pitchFamily="34" charset="-120"/>
              </a:rPr>
              <a:t>Rabin-Karp</a:t>
            </a:r>
            <a:r>
              <a:rPr lang="en-US" sz="1450" dirty="0">
                <a:solidFill>
                  <a:srgbClr val="3C3939"/>
                </a:solidFill>
                <a:latin typeface="Roboto" pitchFamily="34" charset="0"/>
                <a:ea typeface="Roboto" pitchFamily="34" charset="-122"/>
                <a:cs typeface="Roboto" pitchFamily="34" charset="-120"/>
              </a:rPr>
              <a:t> when you want a simple rolling-hash approach that can compare many patterns efficiently.</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Both algorithms are powerful tools for string search, but they shine in different situations.</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Try both on sample problems to build intuition and see which one fits best.</a:t>
            </a:r>
            <a:endParaRPr lang="en-US" sz="1450" dirty="0"/>
          </a:p>
        </p:txBody>
      </p:sp>
      <p:sp>
        <p:nvSpPr>
          <p:cNvPr id="4" name="Text 2"/>
          <p:cNvSpPr/>
          <p:nvPr/>
        </p:nvSpPr>
        <p:spPr>
          <a:xfrm>
            <a:off x="661475" y="4572397"/>
            <a:ext cx="11478330" cy="302419"/>
          </a:xfrm>
          <a:prstGeom prst="rect">
            <a:avLst/>
          </a:prstGeom>
          <a:noFill/>
          <a:ln/>
        </p:spPr>
        <p:txBody>
          <a:bodyPr wrap="none" lIns="0" tIns="0" rIns="0" bIns="0" rtlCol="0" anchor="t"/>
          <a:lstStyle/>
          <a:p>
            <a:pPr marL="0" indent="0" algn="l">
              <a:lnSpc>
                <a:spcPct val="133000"/>
              </a:lnSpc>
              <a:buNone/>
            </a:pPr>
            <a:r>
              <a:rPr lang="en-US" sz="1450" b="1" dirty="0">
                <a:solidFill>
                  <a:srgbClr val="3C3939"/>
                </a:solidFill>
                <a:latin typeface="Roboto Bold" pitchFamily="34" charset="0"/>
                <a:ea typeface="Roboto Bold" pitchFamily="34" charset="-122"/>
                <a:cs typeface="Roboto Bold" pitchFamily="34" charset="-120"/>
              </a:rPr>
              <a:t>Keep experimenting</a:t>
            </a:r>
            <a:r>
              <a:rPr lang="en-US" sz="1450" dirty="0">
                <a:solidFill>
                  <a:srgbClr val="3C3939"/>
                </a:solidFill>
                <a:latin typeface="Roboto" pitchFamily="34" charset="0"/>
                <a:ea typeface="Roboto" pitchFamily="34" charset="-122"/>
                <a:cs typeface="Roboto" pitchFamily="34" charset="-120"/>
              </a:rPr>
              <a:t> — the best way to master string matching is to practice with real examples.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1118</Words>
  <Application>Microsoft Office PowerPoint</Application>
  <PresentationFormat>Widescreen</PresentationFormat>
  <Paragraphs>88</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Roboto Bold</vt:lpstr>
      <vt:lpstr>Consolas</vt:lpstr>
      <vt:lpstr>Arial</vt:lpstr>
      <vt:lpstr>Roboto</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Sathwik Vithanala</cp:lastModifiedBy>
  <cp:revision>1</cp:revision>
  <dcterms:created xsi:type="dcterms:W3CDTF">2026-08-26T03:37:57Z</dcterms:created>
  <dcterms:modified xsi:type="dcterms:W3CDTF">2026-08-26T04:37:23Z</dcterms:modified>
</cp:coreProperties>
</file>