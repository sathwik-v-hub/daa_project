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9509760" y="-1463040"/>
            <a:ext cx="4206240" cy="4206240"/>
          </a:xfrm>
          <a:prstGeom prst="ellipse">
            <a:avLst/>
          </a:prstGeom>
          <a:solidFill>
            <a:srgbClr val="3F51B5">
              <a:alpha val="30000"/>
            </a:srgbClr>
          </a:solidFill>
          <a:ln/>
        </p:spPr>
      </p:sp>
      <p:sp>
        <p:nvSpPr>
          <p:cNvPr id="4" name="Shape 2"/>
          <p:cNvSpPr/>
          <p:nvPr/>
        </p:nvSpPr>
        <p:spPr>
          <a:xfrm>
            <a:off x="-1280160" y="4572000"/>
            <a:ext cx="3291840" cy="3291840"/>
          </a:xfrm>
          <a:prstGeom prst="ellipse">
            <a:avLst/>
          </a:prstGeom>
          <a:solidFill>
            <a:srgbClr val="CADCFC">
              <a:alpha val="15000"/>
            </a:srgbClr>
          </a:solidFill>
          <a:ln/>
        </p:spPr>
      </p:sp>
      <p:sp>
        <p:nvSpPr>
          <p:cNvPr id="5" name="Text 3"/>
          <p:cNvSpPr txBox="1"/>
          <p:nvPr/>
        </p:nvSpPr>
        <p:spPr>
          <a:xfrm>
            <a:off x="822960" y="1965960"/>
            <a:ext cx="7315200" cy="365760"/>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ALGORITHM DEEP DIVE</a:t>
            </a:r>
            <a:endParaRPr lang="en-US" sz="1400" dirty="0"/>
          </a:p>
        </p:txBody>
      </p:sp>
      <p:sp>
        <p:nvSpPr>
          <p:cNvPr id="6" name="Text 4"/>
          <p:cNvSpPr txBox="1"/>
          <p:nvPr/>
        </p:nvSpPr>
        <p:spPr>
          <a:xfrm>
            <a:off x="777240" y="233172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Naive vs KMP</a:t>
            </a:r>
            <a:endParaRPr lang="en-US" sz="5400" dirty="0"/>
          </a:p>
        </p:txBody>
      </p:sp>
      <p:sp>
        <p:nvSpPr>
          <p:cNvPr id="7" name="Text 5"/>
          <p:cNvSpPr txBox="1"/>
          <p:nvPr/>
        </p:nvSpPr>
        <p:spPr>
          <a:xfrm>
            <a:off x="822960" y="3246120"/>
            <a:ext cx="10058400" cy="640080"/>
          </a:xfrm>
          <a:prstGeom prst="rect">
            <a:avLst/>
          </a:prstGeom>
          <a:noFill/>
          <a:ln/>
        </p:spPr>
        <p:txBody>
          <a:bodyPr wrap="square" lIns="0" tIns="0" rIns="0" bIns="0" rtlCol="0" anchor="ctr"/>
          <a:lstStyle/>
          <a:p>
            <a:pPr indent="0" marL="0">
              <a:buNone/>
            </a:pPr>
            <a:r>
              <a:rPr lang="en-US" sz="2600" i="1" dirty="0">
                <a:solidFill>
                  <a:srgbClr val="CADCFC"/>
                </a:solidFill>
                <a:latin typeface="Cambria" pitchFamily="34" charset="0"/>
                <a:ea typeface="Cambria" pitchFamily="34" charset="-122"/>
                <a:cs typeface="Cambria" pitchFamily="34" charset="-120"/>
              </a:rPr>
              <a:t>String Search Algorithms</a:t>
            </a:r>
            <a:endParaRPr lang="en-US" sz="2600" dirty="0"/>
          </a:p>
        </p:txBody>
      </p:sp>
      <p:sp>
        <p:nvSpPr>
          <p:cNvPr id="8" name="Shape 6"/>
          <p:cNvSpPr/>
          <p:nvPr/>
        </p:nvSpPr>
        <p:spPr>
          <a:xfrm>
            <a:off x="822960" y="4160520"/>
            <a:ext cx="1280160" cy="41148"/>
          </a:xfrm>
          <a:prstGeom prst="rect">
            <a:avLst/>
          </a:prstGeom>
          <a:solidFill>
            <a:srgbClr val="3F51B5"/>
          </a:solidFill>
          <a:ln/>
        </p:spPr>
      </p:sp>
      <p:sp>
        <p:nvSpPr>
          <p:cNvPr id="9" name="Text 7"/>
          <p:cNvSpPr txBox="1"/>
          <p:nvPr/>
        </p:nvSpPr>
        <p:spPr>
          <a:xfrm>
            <a:off x="822960" y="4434840"/>
            <a:ext cx="73152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Sathwik Vithanala  |  Roll No: 25WU0102302</a:t>
            </a:r>
            <a:endParaRPr lang="en-US" sz="1500" dirty="0"/>
          </a:p>
        </p:txBody>
      </p:sp>
      <p:sp>
        <p:nvSpPr>
          <p:cNvPr id="10" name="Text 8"/>
          <p:cNvSpPr txBox="1"/>
          <p:nvPr/>
        </p:nvSpPr>
        <p:spPr>
          <a:xfrm>
            <a:off x="822960" y="480060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Design &amp; Analysis of Algorithms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01  •  OVERVIEW</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Finding a Needle in a Log File</a:t>
            </a:r>
            <a:endParaRPr lang="en-US" sz="3200" dirty="0"/>
          </a:p>
        </p:txBody>
      </p:sp>
      <p:sp>
        <p:nvSpPr>
          <p:cNvPr id="4" name="Text 2"/>
          <p:cNvSpPr txBox="1"/>
          <p:nvPr/>
        </p:nvSpPr>
        <p:spPr>
          <a:xfrm>
            <a:off x="548640" y="1508760"/>
            <a:ext cx="11064240" cy="822960"/>
          </a:xfrm>
          <a:prstGeom prst="rect">
            <a:avLst/>
          </a:prstGeom>
          <a:noFill/>
          <a:ln/>
        </p:spPr>
        <p:txBody>
          <a:bodyPr wrap="square" lIns="0" tIns="0" rIns="0" bIns="0" rtlCol="0" anchor="ctr"/>
          <a:lstStyle/>
          <a:p>
            <a:pPr indent="0" marL="0">
              <a:lnSpc>
                <a:spcPct val="120000"/>
              </a:lnSpc>
              <a:buNone/>
            </a:pPr>
            <a:r>
              <a:rPr lang="en-US" sz="1600" dirty="0">
                <a:solidFill>
                  <a:srgbClr val="222222"/>
                </a:solidFill>
                <a:latin typeface="Calibri" pitchFamily="34" charset="0"/>
                <a:ea typeface="Calibri" pitchFamily="34" charset="-122"/>
                <a:cs typeface="Calibri" pitchFamily="34" charset="-120"/>
              </a:rPr>
              <a:t>Servers write millions of lines of text every hour. Somewhere in that flood you need to find one thing — like the word “ERROR” or an IP address. String search is the algorithm that does that job.</a:t>
            </a:r>
            <a:endParaRPr lang="en-US" sz="1600" dirty="0"/>
          </a:p>
        </p:txBody>
      </p:sp>
      <p:sp>
        <p:nvSpPr>
          <p:cNvPr id="5" name="Shape 3"/>
          <p:cNvSpPr/>
          <p:nvPr/>
        </p:nvSpPr>
        <p:spPr>
          <a:xfrm>
            <a:off x="548640" y="2606040"/>
            <a:ext cx="5349240" cy="3383280"/>
          </a:xfrm>
          <a:prstGeom prst="roundRect">
            <a:avLst>
              <a:gd name="adj" fmla="val 3243"/>
            </a:avLst>
          </a:prstGeom>
          <a:solidFill>
            <a:srgbClr val="F3F5FC"/>
          </a:solidFill>
          <a:ln/>
        </p:spPr>
      </p:sp>
      <p:sp>
        <p:nvSpPr>
          <p:cNvPr id="6" name="Shape 4"/>
          <p:cNvSpPr/>
          <p:nvPr/>
        </p:nvSpPr>
        <p:spPr>
          <a:xfrm>
            <a:off x="868680" y="2926080"/>
            <a:ext cx="502920" cy="502920"/>
          </a:xfrm>
          <a:prstGeom prst="ellipse">
            <a:avLst/>
          </a:prstGeom>
          <a:solidFill>
            <a:srgbClr val="5A5F73"/>
          </a:solidFill>
          <a:ln/>
        </p:spPr>
      </p:sp>
      <p:sp>
        <p:nvSpPr>
          <p:cNvPr id="7" name="Text 5"/>
          <p:cNvSpPr txBox="1"/>
          <p:nvPr/>
        </p:nvSpPr>
        <p:spPr>
          <a:xfrm>
            <a:off x="868680" y="3566160"/>
            <a:ext cx="470916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Naive Search</a:t>
            </a:r>
            <a:endParaRPr lang="en-US" sz="2200" dirty="0"/>
          </a:p>
        </p:txBody>
      </p:sp>
      <p:sp>
        <p:nvSpPr>
          <p:cNvPr id="8" name="Text 6"/>
          <p:cNvSpPr txBox="1"/>
          <p:nvPr/>
        </p:nvSpPr>
        <p:spPr>
          <a:xfrm>
            <a:off x="868680" y="3977640"/>
            <a:ext cx="4709160" cy="320040"/>
          </a:xfrm>
          <a:prstGeom prst="rect">
            <a:avLst/>
          </a:prstGeom>
          <a:noFill/>
          <a:ln/>
        </p:spPr>
        <p:txBody>
          <a:bodyPr wrap="square" lIns="0" tIns="0" rIns="0" bIns="0" rtlCol="0" anchor="ctr"/>
          <a:lstStyle/>
          <a:p>
            <a:pPr indent="0" marL="0">
              <a:buNone/>
            </a:pPr>
            <a:r>
              <a:rPr lang="en-US" sz="1300" i="1" dirty="0">
                <a:solidFill>
                  <a:srgbClr val="5A5F73"/>
                </a:solidFill>
                <a:latin typeface="Calibri" pitchFamily="34" charset="0"/>
                <a:ea typeface="Calibri" pitchFamily="34" charset="-122"/>
                <a:cs typeface="Calibri" pitchFamily="34" charset="-120"/>
              </a:rPr>
              <a:t>The straightforward way</a:t>
            </a:r>
            <a:endParaRPr lang="en-US" sz="1300" dirty="0"/>
          </a:p>
        </p:txBody>
      </p:sp>
      <p:sp>
        <p:nvSpPr>
          <p:cNvPr id="9" name="Text 7"/>
          <p:cNvSpPr txBox="1"/>
          <p:nvPr/>
        </p:nvSpPr>
        <p:spPr>
          <a:xfrm>
            <a:off x="868680" y="4434840"/>
            <a:ext cx="4709160" cy="1371600"/>
          </a:xfrm>
          <a:prstGeom prst="rect">
            <a:avLst/>
          </a:prstGeom>
          <a:noFill/>
          <a:ln/>
        </p:spPr>
        <p:txBody>
          <a:bodyPr wrap="square" lIns="0" tIns="0" rIns="0" bIns="0" rtlCol="0" anchor="ctr"/>
          <a:lstStyle/>
          <a:p>
            <a:pPr indent="0" marL="0">
              <a:lnSpc>
                <a:spcPct val="125000"/>
              </a:lnSpc>
              <a:buNone/>
            </a:pPr>
            <a:r>
              <a:rPr lang="en-US" sz="1450" dirty="0">
                <a:solidFill>
                  <a:srgbClr val="222222"/>
                </a:solidFill>
                <a:latin typeface="Calibri" pitchFamily="34" charset="0"/>
                <a:ea typeface="Calibri" pitchFamily="34" charset="-122"/>
                <a:cs typeface="Calibri" pitchFamily="34" charset="-120"/>
              </a:rPr>
              <a:t>Checks the pattern character by character against the text. If a mismatch happens, it shifts over by one and starts again from scratch.</a:t>
            </a:r>
            <a:endParaRPr lang="en-US" sz="1450" dirty="0"/>
          </a:p>
        </p:txBody>
      </p:sp>
      <p:sp>
        <p:nvSpPr>
          <p:cNvPr id="10" name="Shape 8"/>
          <p:cNvSpPr/>
          <p:nvPr/>
        </p:nvSpPr>
        <p:spPr>
          <a:xfrm>
            <a:off x="6263640" y="2606040"/>
            <a:ext cx="5349240" cy="3383280"/>
          </a:xfrm>
          <a:prstGeom prst="roundRect">
            <a:avLst>
              <a:gd name="adj" fmla="val 3243"/>
            </a:avLst>
          </a:prstGeom>
          <a:solidFill>
            <a:srgbClr val="F3F5FC"/>
          </a:solidFill>
          <a:ln/>
        </p:spPr>
      </p:sp>
      <p:sp>
        <p:nvSpPr>
          <p:cNvPr id="11" name="Shape 9"/>
          <p:cNvSpPr/>
          <p:nvPr/>
        </p:nvSpPr>
        <p:spPr>
          <a:xfrm>
            <a:off x="6583680" y="2926080"/>
            <a:ext cx="502920" cy="502920"/>
          </a:xfrm>
          <a:prstGeom prst="ellipse">
            <a:avLst/>
          </a:prstGeom>
          <a:solidFill>
            <a:srgbClr val="3F51B5"/>
          </a:solidFill>
          <a:ln/>
        </p:spPr>
      </p:sp>
      <p:sp>
        <p:nvSpPr>
          <p:cNvPr id="12" name="Text 10"/>
          <p:cNvSpPr txBox="1"/>
          <p:nvPr/>
        </p:nvSpPr>
        <p:spPr>
          <a:xfrm>
            <a:off x="6583680" y="3566160"/>
            <a:ext cx="470916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KMP Search</a:t>
            </a:r>
            <a:endParaRPr lang="en-US" sz="2200" dirty="0"/>
          </a:p>
        </p:txBody>
      </p:sp>
      <p:sp>
        <p:nvSpPr>
          <p:cNvPr id="13" name="Text 11"/>
          <p:cNvSpPr txBox="1"/>
          <p:nvPr/>
        </p:nvSpPr>
        <p:spPr>
          <a:xfrm>
            <a:off x="6583680" y="3977640"/>
            <a:ext cx="4709160" cy="320040"/>
          </a:xfrm>
          <a:prstGeom prst="rect">
            <a:avLst/>
          </a:prstGeom>
          <a:noFill/>
          <a:ln/>
        </p:spPr>
        <p:txBody>
          <a:bodyPr wrap="square" lIns="0" tIns="0" rIns="0" bIns="0" rtlCol="0" anchor="ctr"/>
          <a:lstStyle/>
          <a:p>
            <a:pPr indent="0" marL="0">
              <a:buNone/>
            </a:pPr>
            <a:r>
              <a:rPr lang="en-US" sz="1300" i="1" dirty="0">
                <a:solidFill>
                  <a:srgbClr val="3F51B5"/>
                </a:solidFill>
                <a:latin typeface="Calibri" pitchFamily="34" charset="0"/>
                <a:ea typeface="Calibri" pitchFamily="34" charset="-122"/>
                <a:cs typeface="Calibri" pitchFamily="34" charset="-120"/>
              </a:rPr>
              <a:t>The smart way</a:t>
            </a:r>
            <a:endParaRPr lang="en-US" sz="1300" dirty="0"/>
          </a:p>
        </p:txBody>
      </p:sp>
      <p:sp>
        <p:nvSpPr>
          <p:cNvPr id="14" name="Text 12"/>
          <p:cNvSpPr txBox="1"/>
          <p:nvPr/>
        </p:nvSpPr>
        <p:spPr>
          <a:xfrm>
            <a:off x="6583680" y="4434840"/>
            <a:ext cx="4709160" cy="1371600"/>
          </a:xfrm>
          <a:prstGeom prst="rect">
            <a:avLst/>
          </a:prstGeom>
          <a:noFill/>
          <a:ln/>
        </p:spPr>
        <p:txBody>
          <a:bodyPr wrap="square" lIns="0" tIns="0" rIns="0" bIns="0" rtlCol="0" anchor="ctr"/>
          <a:lstStyle/>
          <a:p>
            <a:pPr indent="0" marL="0">
              <a:lnSpc>
                <a:spcPct val="125000"/>
              </a:lnSpc>
              <a:buNone/>
            </a:pPr>
            <a:r>
              <a:rPr lang="en-US" sz="1450" dirty="0">
                <a:solidFill>
                  <a:srgbClr val="222222"/>
                </a:solidFill>
                <a:latin typeface="Calibri" pitchFamily="34" charset="0"/>
                <a:ea typeface="Calibri" pitchFamily="34" charset="-122"/>
                <a:cs typeface="Calibri" pitchFamily="34" charset="-120"/>
              </a:rPr>
              <a:t>Studies the pattern first, so it never re-checks a character it already matched. No wasted backtracking — it always moves forward.</a:t>
            </a:r>
            <a:endParaRPr lang="en-US" sz="1450" dirty="0"/>
          </a:p>
        </p:txBody>
      </p:sp>
      <p:sp>
        <p:nvSpPr>
          <p:cNvPr id="15" name="Text 13"/>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16" name="Text 14"/>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02  •  NAIVE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Idea: Check, Shift, Repeat</a:t>
            </a:r>
            <a:endParaRPr lang="en-US" sz="3200" dirty="0"/>
          </a:p>
        </p:txBody>
      </p:sp>
      <p:sp>
        <p:nvSpPr>
          <p:cNvPr id="4" name="Text 2"/>
          <p:cNvSpPr txBox="1"/>
          <p:nvPr/>
        </p:nvSpPr>
        <p:spPr>
          <a:xfrm>
            <a:off x="548640" y="1508760"/>
            <a:ext cx="6035040" cy="1463040"/>
          </a:xfrm>
          <a:prstGeom prst="rect">
            <a:avLst/>
          </a:prstGeom>
          <a:noFill/>
          <a:ln/>
        </p:spPr>
        <p:txBody>
          <a:bodyPr wrap="square" lIns="0" tIns="0" rIns="0" bIns="0"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Line up the pattern with the start of the text. Compare it letter by letter. The moment something doesn’t match, give up, slide the pattern one step to the right, and try again.</a:t>
            </a:r>
            <a:endParaRPr lang="en-US" sz="1600" dirty="0"/>
          </a:p>
        </p:txBody>
      </p:sp>
      <p:sp>
        <p:nvSpPr>
          <p:cNvPr id="5" name="Shape 3"/>
          <p:cNvSpPr/>
          <p:nvPr/>
        </p:nvSpPr>
        <p:spPr>
          <a:xfrm>
            <a:off x="548640" y="3108960"/>
            <a:ext cx="6035040" cy="1828800"/>
          </a:xfrm>
          <a:prstGeom prst="roundRect">
            <a:avLst>
              <a:gd name="adj" fmla="val 5000"/>
            </a:avLst>
          </a:prstGeom>
          <a:solidFill>
            <a:srgbClr val="F3F5FC"/>
          </a:solidFill>
          <a:ln/>
        </p:spPr>
      </p:sp>
      <p:sp>
        <p:nvSpPr>
          <p:cNvPr id="6" name="Text 4"/>
          <p:cNvSpPr txBox="1"/>
          <p:nvPr/>
        </p:nvSpPr>
        <p:spPr>
          <a:xfrm>
            <a:off x="822960" y="3291840"/>
            <a:ext cx="5486400" cy="365760"/>
          </a:xfrm>
          <a:prstGeom prst="rect">
            <a:avLst/>
          </a:prstGeom>
          <a:noFill/>
          <a:ln/>
        </p:spPr>
        <p:txBody>
          <a:bodyPr wrap="square" lIns="0" tIns="0" rIns="0" bIns="0" rtlCol="0" anchor="ctr"/>
          <a:lstStyle/>
          <a:p>
            <a:pPr indent="0" marL="0">
              <a:buNone/>
            </a:pPr>
            <a:r>
              <a:rPr lang="en-US" sz="1400" b="1" dirty="0">
                <a:solidFill>
                  <a:srgbClr val="3F51B5"/>
                </a:solidFill>
                <a:latin typeface="Calibri" pitchFamily="34" charset="0"/>
                <a:ea typeface="Calibri" pitchFamily="34" charset="-122"/>
                <a:cs typeface="Calibri" pitchFamily="34" charset="-120"/>
              </a:rPr>
              <a:t>Why it's slow</a:t>
            </a:r>
            <a:endParaRPr lang="en-US" sz="1400" dirty="0"/>
          </a:p>
        </p:txBody>
      </p:sp>
      <p:sp>
        <p:nvSpPr>
          <p:cNvPr id="7" name="Text 5"/>
          <p:cNvSpPr txBox="1"/>
          <p:nvPr/>
        </p:nvSpPr>
        <p:spPr>
          <a:xfrm>
            <a:off x="822960" y="3703320"/>
            <a:ext cx="5486400" cy="1097280"/>
          </a:xfrm>
          <a:prstGeom prst="rect">
            <a:avLst/>
          </a:prstGeom>
          <a:noFill/>
          <a:ln/>
        </p:spPr>
        <p:txBody>
          <a:bodyPr wrap="square" lIns="0" tIns="0" rIns="0" bIns="0"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Every time there’s a mismatch, it forgets everything it just learned and starts the comparison over. On repetitive text, this wastes a huge number of comparisons.</a:t>
            </a:r>
            <a:endParaRPr lang="en-US" sz="1400" dirty="0"/>
          </a:p>
        </p:txBody>
      </p:sp>
      <p:sp>
        <p:nvSpPr>
          <p:cNvPr id="8" name="Shape 6"/>
          <p:cNvSpPr/>
          <p:nvPr/>
        </p:nvSpPr>
        <p:spPr>
          <a:xfrm>
            <a:off x="7132320" y="1920240"/>
            <a:ext cx="457200" cy="502920"/>
          </a:xfrm>
          <a:prstGeom prst="rect">
            <a:avLst/>
          </a:prstGeom>
          <a:solidFill>
            <a:srgbClr val="1E2761"/>
          </a:solidFill>
          <a:ln w="12700">
            <a:solidFill>
              <a:srgbClr val="FFFFFF"/>
            </a:solidFill>
            <a:prstDash val="solid"/>
          </a:ln>
        </p:spPr>
      </p:sp>
      <p:sp>
        <p:nvSpPr>
          <p:cNvPr id="9" name="Text 7"/>
          <p:cNvSpPr txBox="1"/>
          <p:nvPr/>
        </p:nvSpPr>
        <p:spPr>
          <a:xfrm>
            <a:off x="713232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10" name="Shape 8"/>
          <p:cNvSpPr/>
          <p:nvPr/>
        </p:nvSpPr>
        <p:spPr>
          <a:xfrm>
            <a:off x="7635240" y="1920240"/>
            <a:ext cx="457200" cy="502920"/>
          </a:xfrm>
          <a:prstGeom prst="rect">
            <a:avLst/>
          </a:prstGeom>
          <a:solidFill>
            <a:srgbClr val="1E2761"/>
          </a:solidFill>
          <a:ln w="12700">
            <a:solidFill>
              <a:srgbClr val="FFFFFF"/>
            </a:solidFill>
            <a:prstDash val="solid"/>
          </a:ln>
        </p:spPr>
      </p:sp>
      <p:sp>
        <p:nvSpPr>
          <p:cNvPr id="11" name="Text 9"/>
          <p:cNvSpPr txBox="1"/>
          <p:nvPr/>
        </p:nvSpPr>
        <p:spPr>
          <a:xfrm>
            <a:off x="763524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B</a:t>
            </a:r>
            <a:endParaRPr lang="en-US" sz="1600" dirty="0"/>
          </a:p>
        </p:txBody>
      </p:sp>
      <p:sp>
        <p:nvSpPr>
          <p:cNvPr id="12" name="Shape 10"/>
          <p:cNvSpPr/>
          <p:nvPr/>
        </p:nvSpPr>
        <p:spPr>
          <a:xfrm>
            <a:off x="8138160" y="1920240"/>
            <a:ext cx="457200" cy="502920"/>
          </a:xfrm>
          <a:prstGeom prst="rect">
            <a:avLst/>
          </a:prstGeom>
          <a:solidFill>
            <a:srgbClr val="1E2761"/>
          </a:solidFill>
          <a:ln w="12700">
            <a:solidFill>
              <a:srgbClr val="FFFFFF"/>
            </a:solidFill>
            <a:prstDash val="solid"/>
          </a:ln>
        </p:spPr>
      </p:sp>
      <p:sp>
        <p:nvSpPr>
          <p:cNvPr id="13" name="Text 11"/>
          <p:cNvSpPr txBox="1"/>
          <p:nvPr/>
        </p:nvSpPr>
        <p:spPr>
          <a:xfrm>
            <a:off x="813816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C</a:t>
            </a:r>
            <a:endParaRPr lang="en-US" sz="1600" dirty="0"/>
          </a:p>
        </p:txBody>
      </p:sp>
      <p:sp>
        <p:nvSpPr>
          <p:cNvPr id="14" name="Shape 12"/>
          <p:cNvSpPr/>
          <p:nvPr/>
        </p:nvSpPr>
        <p:spPr>
          <a:xfrm>
            <a:off x="8641080" y="1920240"/>
            <a:ext cx="457200" cy="502920"/>
          </a:xfrm>
          <a:prstGeom prst="rect">
            <a:avLst/>
          </a:prstGeom>
          <a:solidFill>
            <a:srgbClr val="1E2761"/>
          </a:solidFill>
          <a:ln w="12700">
            <a:solidFill>
              <a:srgbClr val="FFFFFF"/>
            </a:solidFill>
            <a:prstDash val="solid"/>
          </a:ln>
        </p:spPr>
      </p:sp>
      <p:sp>
        <p:nvSpPr>
          <p:cNvPr id="15" name="Text 13"/>
          <p:cNvSpPr txBox="1"/>
          <p:nvPr/>
        </p:nvSpPr>
        <p:spPr>
          <a:xfrm>
            <a:off x="864108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16" name="Shape 14"/>
          <p:cNvSpPr/>
          <p:nvPr/>
        </p:nvSpPr>
        <p:spPr>
          <a:xfrm>
            <a:off x="9144000" y="1920240"/>
            <a:ext cx="457200" cy="502920"/>
          </a:xfrm>
          <a:prstGeom prst="rect">
            <a:avLst/>
          </a:prstGeom>
          <a:solidFill>
            <a:srgbClr val="1E2761"/>
          </a:solidFill>
          <a:ln w="12700">
            <a:solidFill>
              <a:srgbClr val="FFFFFF"/>
            </a:solidFill>
            <a:prstDash val="solid"/>
          </a:ln>
        </p:spPr>
      </p:sp>
      <p:sp>
        <p:nvSpPr>
          <p:cNvPr id="17" name="Text 15"/>
          <p:cNvSpPr txBox="1"/>
          <p:nvPr/>
        </p:nvSpPr>
        <p:spPr>
          <a:xfrm>
            <a:off x="914400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B</a:t>
            </a:r>
            <a:endParaRPr lang="en-US" sz="1600" dirty="0"/>
          </a:p>
        </p:txBody>
      </p:sp>
      <p:sp>
        <p:nvSpPr>
          <p:cNvPr id="18" name="Shape 16"/>
          <p:cNvSpPr/>
          <p:nvPr/>
        </p:nvSpPr>
        <p:spPr>
          <a:xfrm>
            <a:off x="9646920" y="1920240"/>
            <a:ext cx="457200" cy="502920"/>
          </a:xfrm>
          <a:prstGeom prst="rect">
            <a:avLst/>
          </a:prstGeom>
          <a:solidFill>
            <a:srgbClr val="1E2761"/>
          </a:solidFill>
          <a:ln w="12700">
            <a:solidFill>
              <a:srgbClr val="FFFFFF"/>
            </a:solidFill>
            <a:prstDash val="solid"/>
          </a:ln>
        </p:spPr>
      </p:sp>
      <p:sp>
        <p:nvSpPr>
          <p:cNvPr id="19" name="Text 17"/>
          <p:cNvSpPr txBox="1"/>
          <p:nvPr/>
        </p:nvSpPr>
        <p:spPr>
          <a:xfrm>
            <a:off x="9646920" y="192024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20" name="Text 18"/>
          <p:cNvSpPr txBox="1"/>
          <p:nvPr/>
        </p:nvSpPr>
        <p:spPr>
          <a:xfrm>
            <a:off x="7132320" y="1554480"/>
            <a:ext cx="1828800" cy="27432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Text</a:t>
            </a:r>
            <a:endParaRPr lang="en-US" sz="1200" dirty="0"/>
          </a:p>
        </p:txBody>
      </p:sp>
      <p:sp>
        <p:nvSpPr>
          <p:cNvPr id="21" name="Shape 19"/>
          <p:cNvSpPr/>
          <p:nvPr/>
        </p:nvSpPr>
        <p:spPr>
          <a:xfrm>
            <a:off x="7635240" y="2743200"/>
            <a:ext cx="457200" cy="502920"/>
          </a:xfrm>
          <a:prstGeom prst="rect">
            <a:avLst/>
          </a:prstGeom>
          <a:solidFill>
            <a:srgbClr val="2E7D32"/>
          </a:solidFill>
          <a:ln w="12700">
            <a:solidFill>
              <a:srgbClr val="FFFFFF"/>
            </a:solidFill>
            <a:prstDash val="solid"/>
          </a:ln>
        </p:spPr>
      </p:sp>
      <p:sp>
        <p:nvSpPr>
          <p:cNvPr id="22" name="Text 20"/>
          <p:cNvSpPr txBox="1"/>
          <p:nvPr/>
        </p:nvSpPr>
        <p:spPr>
          <a:xfrm>
            <a:off x="7635240" y="274320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A</a:t>
            </a:r>
            <a:endParaRPr lang="en-US" sz="1600" dirty="0"/>
          </a:p>
        </p:txBody>
      </p:sp>
      <p:sp>
        <p:nvSpPr>
          <p:cNvPr id="23" name="Shape 21"/>
          <p:cNvSpPr/>
          <p:nvPr/>
        </p:nvSpPr>
        <p:spPr>
          <a:xfrm>
            <a:off x="8138160" y="2743200"/>
            <a:ext cx="457200" cy="502920"/>
          </a:xfrm>
          <a:prstGeom prst="rect">
            <a:avLst/>
          </a:prstGeom>
          <a:solidFill>
            <a:srgbClr val="2E7D32"/>
          </a:solidFill>
          <a:ln w="12700">
            <a:solidFill>
              <a:srgbClr val="FFFFFF"/>
            </a:solidFill>
            <a:prstDash val="solid"/>
          </a:ln>
        </p:spPr>
      </p:sp>
      <p:sp>
        <p:nvSpPr>
          <p:cNvPr id="24" name="Text 22"/>
          <p:cNvSpPr txBox="1"/>
          <p:nvPr/>
        </p:nvSpPr>
        <p:spPr>
          <a:xfrm>
            <a:off x="8138160" y="274320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B</a:t>
            </a:r>
            <a:endParaRPr lang="en-US" sz="1600" dirty="0"/>
          </a:p>
        </p:txBody>
      </p:sp>
      <p:sp>
        <p:nvSpPr>
          <p:cNvPr id="25" name="Shape 23"/>
          <p:cNvSpPr/>
          <p:nvPr/>
        </p:nvSpPr>
        <p:spPr>
          <a:xfrm>
            <a:off x="8641080" y="2743200"/>
            <a:ext cx="457200" cy="502920"/>
          </a:xfrm>
          <a:prstGeom prst="rect">
            <a:avLst/>
          </a:prstGeom>
          <a:solidFill>
            <a:srgbClr val="B00020"/>
          </a:solidFill>
          <a:ln w="12700">
            <a:solidFill>
              <a:srgbClr val="FFFFFF"/>
            </a:solidFill>
            <a:prstDash val="solid"/>
          </a:ln>
        </p:spPr>
      </p:sp>
      <p:sp>
        <p:nvSpPr>
          <p:cNvPr id="26" name="Text 24"/>
          <p:cNvSpPr txBox="1"/>
          <p:nvPr/>
        </p:nvSpPr>
        <p:spPr>
          <a:xfrm>
            <a:off x="8641080" y="2743200"/>
            <a:ext cx="457200" cy="502920"/>
          </a:xfrm>
          <a:prstGeom prst="rect">
            <a:avLst/>
          </a:prstGeom>
          <a:noFill/>
          <a:ln/>
        </p:spPr>
        <p:txBody>
          <a:bodyPr wrap="square" lIns="0" tIns="0" rIns="0" bIns="0" rtlCol="0" anchor="ctr"/>
          <a:lstStyle/>
          <a:p>
            <a:pPr algn="ctr" indent="0" marL="0">
              <a:buNone/>
            </a:pPr>
            <a:r>
              <a:rPr lang="en-US" sz="1600"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27" name="Text 25"/>
          <p:cNvSpPr txBox="1"/>
          <p:nvPr/>
        </p:nvSpPr>
        <p:spPr>
          <a:xfrm>
            <a:off x="7132320" y="3383280"/>
            <a:ext cx="4572000" cy="365760"/>
          </a:xfrm>
          <a:prstGeom prst="rect">
            <a:avLst/>
          </a:prstGeom>
          <a:noFill/>
          <a:ln/>
        </p:spPr>
        <p:txBody>
          <a:bodyPr wrap="square" lIns="0" tIns="0" rIns="0" bIns="0" rtlCol="0" anchor="ctr"/>
          <a:lstStyle/>
          <a:p>
            <a:pPr indent="0" marL="0">
              <a:buNone/>
            </a:pPr>
            <a:r>
              <a:rPr lang="en-US" sz="1200" i="1" dirty="0">
                <a:solidFill>
                  <a:srgbClr val="5A5F73"/>
                </a:solidFill>
                <a:latin typeface="Calibri" pitchFamily="34" charset="0"/>
                <a:ea typeface="Calibri" pitchFamily="34" charset="-122"/>
                <a:cs typeface="Calibri" pitchFamily="34" charset="-120"/>
              </a:rPr>
              <a:t>Pattern shifted by 1 after each mismatch</a:t>
            </a:r>
            <a:endParaRPr lang="en-US" sz="1200" dirty="0"/>
          </a:p>
        </p:txBody>
      </p:sp>
      <p:sp>
        <p:nvSpPr>
          <p:cNvPr id="28" name="Shape 26"/>
          <p:cNvSpPr/>
          <p:nvPr/>
        </p:nvSpPr>
        <p:spPr>
          <a:xfrm>
            <a:off x="7132320" y="3749040"/>
            <a:ext cx="4480560" cy="1188720"/>
          </a:xfrm>
          <a:prstGeom prst="roundRect">
            <a:avLst>
              <a:gd name="adj" fmla="val 7692"/>
            </a:avLst>
          </a:prstGeom>
          <a:solidFill>
            <a:srgbClr val="F3F5FC"/>
          </a:solidFill>
          <a:ln/>
        </p:spPr>
      </p:sp>
      <p:sp>
        <p:nvSpPr>
          <p:cNvPr id="29" name="Text 27"/>
          <p:cNvSpPr txBox="1"/>
          <p:nvPr/>
        </p:nvSpPr>
        <p:spPr>
          <a:xfrm>
            <a:off x="7360920" y="3886200"/>
            <a:ext cx="4023360" cy="914400"/>
          </a:xfrm>
          <a:prstGeom prst="rect">
            <a:avLst/>
          </a:prstGeom>
          <a:noFill/>
          <a:ln/>
        </p:spPr>
        <p:txBody>
          <a:bodyPr wrap="square" lIns="0" tIns="0" rIns="0" bIns="0" rtlCol="0" anchor="ctr"/>
          <a:lstStyle/>
          <a:p>
            <a:pPr indent="0" marL="0">
              <a:lnSpc>
                <a:spcPct val="120000"/>
              </a:lnSpc>
              <a:buNone/>
            </a:pPr>
            <a:r>
              <a:rPr lang="en-US" sz="1300" dirty="0">
                <a:solidFill>
                  <a:srgbClr val="222222"/>
                </a:solidFill>
                <a:latin typeface="Calibri" pitchFamily="34" charset="0"/>
                <a:ea typeface="Calibri" pitchFamily="34" charset="-122"/>
                <a:cs typeface="Calibri" pitchFamily="34" charset="-120"/>
              </a:rPr>
              <a:t>Compares two characters at a time. On a mismatch, the pattern restarts one position to the right — nothing is remembered.</a:t>
            </a:r>
            <a:endParaRPr lang="en-US" sz="1300" dirty="0"/>
          </a:p>
        </p:txBody>
      </p:sp>
      <p:sp>
        <p:nvSpPr>
          <p:cNvPr id="30" name="Text 28"/>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31" name="Text 29"/>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02  •  NAIVE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Algorithm Steps</a:t>
            </a:r>
            <a:endParaRPr lang="en-US" sz="3200" dirty="0"/>
          </a:p>
        </p:txBody>
      </p:sp>
      <p:sp>
        <p:nvSpPr>
          <p:cNvPr id="4" name="Shape 2"/>
          <p:cNvSpPr/>
          <p:nvPr/>
        </p:nvSpPr>
        <p:spPr>
          <a:xfrm>
            <a:off x="548640" y="1600200"/>
            <a:ext cx="502920" cy="502920"/>
          </a:xfrm>
          <a:prstGeom prst="ellipse">
            <a:avLst/>
          </a:prstGeom>
          <a:solidFill>
            <a:srgbClr val="1E2761"/>
          </a:solidFill>
          <a:ln/>
        </p:spPr>
      </p:sp>
      <p:sp>
        <p:nvSpPr>
          <p:cNvPr id="5" name="Text 3"/>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5544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Align</a:t>
            </a:r>
            <a:endParaRPr lang="en-US" sz="1700" dirty="0"/>
          </a:p>
        </p:txBody>
      </p:sp>
      <p:sp>
        <p:nvSpPr>
          <p:cNvPr id="7" name="Text 5"/>
          <p:cNvSpPr txBox="1"/>
          <p:nvPr/>
        </p:nvSpPr>
        <p:spPr>
          <a:xfrm>
            <a:off x="1234440" y="19476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Place the pattern at the start of the text (index i = 0).</a:t>
            </a:r>
            <a:endParaRPr lang="en-US" sz="1400" dirty="0"/>
          </a:p>
        </p:txBody>
      </p:sp>
      <p:sp>
        <p:nvSpPr>
          <p:cNvPr id="8" name="Shape 6"/>
          <p:cNvSpPr/>
          <p:nvPr/>
        </p:nvSpPr>
        <p:spPr>
          <a:xfrm>
            <a:off x="800100" y="2103120"/>
            <a:ext cx="0" cy="411480"/>
          </a:xfrm>
          <a:prstGeom prst="line">
            <a:avLst/>
          </a:prstGeom>
          <a:noFill/>
          <a:ln w="19050">
            <a:solidFill>
              <a:srgbClr val="D8DCEC"/>
            </a:solidFill>
            <a:prstDash val="dash"/>
          </a:ln>
        </p:spPr>
      </p:sp>
      <p:sp>
        <p:nvSpPr>
          <p:cNvPr id="9" name="Shape 7"/>
          <p:cNvSpPr/>
          <p:nvPr/>
        </p:nvSpPr>
        <p:spPr>
          <a:xfrm>
            <a:off x="548640" y="2514600"/>
            <a:ext cx="502920" cy="502920"/>
          </a:xfrm>
          <a:prstGeom prst="ellipse">
            <a:avLst/>
          </a:prstGeom>
          <a:solidFill>
            <a:srgbClr val="1E2761"/>
          </a:solidFill>
          <a:ln/>
        </p:spPr>
      </p:sp>
      <p:sp>
        <p:nvSpPr>
          <p:cNvPr id="10" name="Text 8"/>
          <p:cNvSpPr txBox="1"/>
          <p:nvPr/>
        </p:nvSpPr>
        <p:spPr>
          <a:xfrm>
            <a:off x="548640" y="2514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234440" y="24688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Compare</a:t>
            </a:r>
            <a:endParaRPr lang="en-US" sz="1700" dirty="0"/>
          </a:p>
        </p:txBody>
      </p:sp>
      <p:sp>
        <p:nvSpPr>
          <p:cNvPr id="12" name="Text 10"/>
          <p:cNvSpPr txBox="1"/>
          <p:nvPr/>
        </p:nvSpPr>
        <p:spPr>
          <a:xfrm>
            <a:off x="1234440" y="28620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Check text and pattern characters one by one from that point.</a:t>
            </a:r>
            <a:endParaRPr lang="en-US" sz="1400" dirty="0"/>
          </a:p>
        </p:txBody>
      </p:sp>
      <p:sp>
        <p:nvSpPr>
          <p:cNvPr id="13" name="Shape 11"/>
          <p:cNvSpPr/>
          <p:nvPr/>
        </p:nvSpPr>
        <p:spPr>
          <a:xfrm>
            <a:off x="800100" y="3017520"/>
            <a:ext cx="0" cy="411480"/>
          </a:xfrm>
          <a:prstGeom prst="line">
            <a:avLst/>
          </a:prstGeom>
          <a:noFill/>
          <a:ln w="19050">
            <a:solidFill>
              <a:srgbClr val="D8DCEC"/>
            </a:solidFill>
            <a:prstDash val="dash"/>
          </a:ln>
        </p:spPr>
      </p:sp>
      <p:sp>
        <p:nvSpPr>
          <p:cNvPr id="14" name="Shape 12"/>
          <p:cNvSpPr/>
          <p:nvPr/>
        </p:nvSpPr>
        <p:spPr>
          <a:xfrm>
            <a:off x="548640" y="3429000"/>
            <a:ext cx="502920" cy="502920"/>
          </a:xfrm>
          <a:prstGeom prst="ellipse">
            <a:avLst/>
          </a:prstGeom>
          <a:solidFill>
            <a:srgbClr val="1E2761"/>
          </a:solidFill>
          <a:ln/>
        </p:spPr>
      </p:sp>
      <p:sp>
        <p:nvSpPr>
          <p:cNvPr id="15" name="Text 13"/>
          <p:cNvSpPr txBox="1"/>
          <p:nvPr/>
        </p:nvSpPr>
        <p:spPr>
          <a:xfrm>
            <a:off x="54864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234440" y="33832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Match found</a:t>
            </a:r>
            <a:endParaRPr lang="en-US" sz="1700" dirty="0"/>
          </a:p>
        </p:txBody>
      </p:sp>
      <p:sp>
        <p:nvSpPr>
          <p:cNvPr id="17" name="Text 15"/>
          <p:cNvSpPr txBox="1"/>
          <p:nvPr/>
        </p:nvSpPr>
        <p:spPr>
          <a:xfrm>
            <a:off x="1234440" y="37764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If every character lines up, record a match at index i.</a:t>
            </a:r>
            <a:endParaRPr lang="en-US" sz="1400" dirty="0"/>
          </a:p>
        </p:txBody>
      </p:sp>
      <p:sp>
        <p:nvSpPr>
          <p:cNvPr id="18" name="Shape 16"/>
          <p:cNvSpPr/>
          <p:nvPr/>
        </p:nvSpPr>
        <p:spPr>
          <a:xfrm>
            <a:off x="800100" y="3931920"/>
            <a:ext cx="0" cy="411480"/>
          </a:xfrm>
          <a:prstGeom prst="line">
            <a:avLst/>
          </a:prstGeom>
          <a:noFill/>
          <a:ln w="19050">
            <a:solidFill>
              <a:srgbClr val="D8DCEC"/>
            </a:solidFill>
            <a:prstDash val="dash"/>
          </a:ln>
        </p:spPr>
      </p:sp>
      <p:sp>
        <p:nvSpPr>
          <p:cNvPr id="19" name="Shape 17"/>
          <p:cNvSpPr/>
          <p:nvPr/>
        </p:nvSpPr>
        <p:spPr>
          <a:xfrm>
            <a:off x="548640" y="4343400"/>
            <a:ext cx="502920" cy="502920"/>
          </a:xfrm>
          <a:prstGeom prst="ellipse">
            <a:avLst/>
          </a:prstGeom>
          <a:solidFill>
            <a:srgbClr val="1E2761"/>
          </a:solidFill>
          <a:ln/>
        </p:spPr>
      </p:sp>
      <p:sp>
        <p:nvSpPr>
          <p:cNvPr id="20" name="Text 18"/>
          <p:cNvSpPr txBox="1"/>
          <p:nvPr/>
        </p:nvSpPr>
        <p:spPr>
          <a:xfrm>
            <a:off x="548640" y="4343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234440" y="42976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Mismatch</a:t>
            </a:r>
            <a:endParaRPr lang="en-US" sz="1700" dirty="0"/>
          </a:p>
        </p:txBody>
      </p:sp>
      <p:sp>
        <p:nvSpPr>
          <p:cNvPr id="22" name="Text 20"/>
          <p:cNvSpPr txBox="1"/>
          <p:nvPr/>
        </p:nvSpPr>
        <p:spPr>
          <a:xfrm>
            <a:off x="1234440" y="46908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Drop the comparison, move the pattern one step right (i + 1).</a:t>
            </a:r>
            <a:endParaRPr lang="en-US" sz="1400" dirty="0"/>
          </a:p>
        </p:txBody>
      </p:sp>
      <p:sp>
        <p:nvSpPr>
          <p:cNvPr id="23" name="Shape 21"/>
          <p:cNvSpPr/>
          <p:nvPr/>
        </p:nvSpPr>
        <p:spPr>
          <a:xfrm>
            <a:off x="800100" y="4846320"/>
            <a:ext cx="0" cy="411480"/>
          </a:xfrm>
          <a:prstGeom prst="line">
            <a:avLst/>
          </a:prstGeom>
          <a:noFill/>
          <a:ln w="19050">
            <a:solidFill>
              <a:srgbClr val="D8DCEC"/>
            </a:solidFill>
            <a:prstDash val="dash"/>
          </a:ln>
        </p:spPr>
      </p:sp>
      <p:sp>
        <p:nvSpPr>
          <p:cNvPr id="24" name="Shape 22"/>
          <p:cNvSpPr/>
          <p:nvPr/>
        </p:nvSpPr>
        <p:spPr>
          <a:xfrm>
            <a:off x="548640" y="5257800"/>
            <a:ext cx="502920" cy="502920"/>
          </a:xfrm>
          <a:prstGeom prst="ellipse">
            <a:avLst/>
          </a:prstGeom>
          <a:solidFill>
            <a:srgbClr val="1E2761"/>
          </a:solidFill>
          <a:ln/>
        </p:spPr>
      </p:sp>
      <p:sp>
        <p:nvSpPr>
          <p:cNvPr id="25" name="Text 23"/>
          <p:cNvSpPr txBox="1"/>
          <p:nvPr/>
        </p:nvSpPr>
        <p:spPr>
          <a:xfrm>
            <a:off x="548640" y="5257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234440" y="52120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Repeat</a:t>
            </a:r>
            <a:endParaRPr lang="en-US" sz="1700" dirty="0"/>
          </a:p>
        </p:txBody>
      </p:sp>
      <p:sp>
        <p:nvSpPr>
          <p:cNvPr id="27" name="Text 25"/>
          <p:cNvSpPr txBox="1"/>
          <p:nvPr/>
        </p:nvSpPr>
        <p:spPr>
          <a:xfrm>
            <a:off x="1234440" y="56052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Keep going until the pattern reaches the end of the text.</a:t>
            </a:r>
            <a:endParaRPr lang="en-US" sz="14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29" name="Text 27"/>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02  •  NAIVE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Pseudocode</a:t>
            </a:r>
            <a:endParaRPr lang="en-US" sz="3200" dirty="0"/>
          </a:p>
        </p:txBody>
      </p:sp>
      <p:sp>
        <p:nvSpPr>
          <p:cNvPr id="4" name="Shape 2"/>
          <p:cNvSpPr/>
          <p:nvPr/>
        </p:nvSpPr>
        <p:spPr>
          <a:xfrm>
            <a:off x="548640" y="1463040"/>
            <a:ext cx="11064240" cy="4297680"/>
          </a:xfrm>
          <a:prstGeom prst="roundRect">
            <a:avLst>
              <a:gd name="adj" fmla="val 2553"/>
            </a:avLst>
          </a:prstGeom>
          <a:solidFill>
            <a:srgbClr val="16193A"/>
          </a:solidFill>
          <a:ln/>
        </p:spPr>
      </p:sp>
      <p:sp>
        <p:nvSpPr>
          <p:cNvPr id="5" name="Shape 3"/>
          <p:cNvSpPr/>
          <p:nvPr/>
        </p:nvSpPr>
        <p:spPr>
          <a:xfrm>
            <a:off x="868680" y="1719072"/>
            <a:ext cx="146304" cy="146304"/>
          </a:xfrm>
          <a:prstGeom prst="ellipse">
            <a:avLst/>
          </a:prstGeom>
          <a:solidFill>
            <a:srgbClr val="FF5F56"/>
          </a:solidFill>
          <a:ln/>
        </p:spPr>
      </p:sp>
      <p:sp>
        <p:nvSpPr>
          <p:cNvPr id="6" name="Shape 4"/>
          <p:cNvSpPr/>
          <p:nvPr/>
        </p:nvSpPr>
        <p:spPr>
          <a:xfrm>
            <a:off x="1097280" y="1719072"/>
            <a:ext cx="146304" cy="146304"/>
          </a:xfrm>
          <a:prstGeom prst="ellipse">
            <a:avLst/>
          </a:prstGeom>
          <a:solidFill>
            <a:srgbClr val="FFBD2E"/>
          </a:solidFill>
          <a:ln/>
        </p:spPr>
      </p:sp>
      <p:sp>
        <p:nvSpPr>
          <p:cNvPr id="7" name="Shape 5"/>
          <p:cNvSpPr/>
          <p:nvPr/>
        </p:nvSpPr>
        <p:spPr>
          <a:xfrm>
            <a:off x="1325880" y="1719072"/>
            <a:ext cx="146304" cy="146304"/>
          </a:xfrm>
          <a:prstGeom prst="ellipse">
            <a:avLst/>
          </a:prstGeom>
          <a:solidFill>
            <a:srgbClr val="27C93F"/>
          </a:solidFill>
          <a:ln/>
        </p:spPr>
      </p:sp>
      <p:sp>
        <p:nvSpPr>
          <p:cNvPr id="8" name="Text 6"/>
          <p:cNvSpPr txBox="1"/>
          <p:nvPr/>
        </p:nvSpPr>
        <p:spPr>
          <a:xfrm>
            <a:off x="868680" y="2057400"/>
            <a:ext cx="10424160" cy="3566160"/>
          </a:xfrm>
          <a:prstGeom prst="rect">
            <a:avLst/>
          </a:prstGeom>
          <a:noFill/>
          <a:ln/>
        </p:spPr>
        <p:txBody>
          <a:bodyPr wrap="square" lIns="0" tIns="0" rIns="0" bIns="0" rtlCol="0" anchor="ctr"/>
          <a:lstStyle/>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function NaiveSearch(Text T, Pattern P):</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n = length(T)</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m = length(P)</a:t>
            </a:r>
            <a:endParaRPr lang="en-US" sz="1500" dirty="0"/>
          </a:p>
          <a:p>
            <a:pPr indent="0" marL="0">
              <a:lnSpc>
                <a:spcPct val="120000"/>
              </a:lnSpc>
              <a:buNone/>
            </a:pP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for i = 0 to n - m:</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j = 0</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while j &lt; m and T[i + j] == P[j]:</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j = j + 1</a:t>
            </a:r>
            <a:endParaRPr lang="en-US" sz="1500" dirty="0"/>
          </a:p>
          <a:p>
            <a:pPr indent="0" marL="0">
              <a:lnSpc>
                <a:spcPct val="120000"/>
              </a:lnSpc>
              <a:buNone/>
            </a:pP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if j == m:</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report match at index i</a:t>
            </a:r>
            <a:endParaRPr lang="en-US" sz="1500" dirty="0"/>
          </a:p>
          <a:p>
            <a:pPr indent="0" marL="0">
              <a:lnSpc>
                <a:spcPct val="120000"/>
              </a:lnSpc>
              <a:buNone/>
            </a:pPr>
            <a:r>
              <a:rPr lang="en-US" sz="1500" dirty="0">
                <a:solidFill>
                  <a:srgbClr val="CADCFC"/>
                </a:solidFill>
                <a:latin typeface="Courier New" pitchFamily="34" charset="0"/>
                <a:ea typeface="Courier New" pitchFamily="34" charset="-122"/>
                <a:cs typeface="Courier New" pitchFamily="34" charset="-120"/>
              </a:rPr>
              <a:t>        // else: move to i + 1 and start over</a:t>
            </a:r>
            <a:endParaRPr lang="en-US" sz="1500" dirty="0"/>
          </a:p>
        </p:txBody>
      </p:sp>
      <p:sp>
        <p:nvSpPr>
          <p:cNvPr id="9" name="Text 7"/>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10" name="Text 8"/>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02  •  NAIVE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Time &amp; Space Complexity</a:t>
            </a:r>
            <a:endParaRPr lang="en-US" sz="3200" dirty="0"/>
          </a:p>
        </p:txBody>
      </p:sp>
      <p:sp>
        <p:nvSpPr>
          <p:cNvPr id="4" name="Shape 2"/>
          <p:cNvSpPr/>
          <p:nvPr/>
        </p:nvSpPr>
        <p:spPr>
          <a:xfrm>
            <a:off x="548640" y="1691640"/>
            <a:ext cx="3502152" cy="3291840"/>
          </a:xfrm>
          <a:prstGeom prst="roundRect">
            <a:avLst>
              <a:gd name="adj" fmla="val 3333"/>
            </a:avLst>
          </a:prstGeom>
          <a:solidFill>
            <a:srgbClr val="F3F5FC"/>
          </a:solidFill>
          <a:ln/>
        </p:spPr>
      </p:sp>
      <p:sp>
        <p:nvSpPr>
          <p:cNvPr id="5" name="Text 3"/>
          <p:cNvSpPr txBox="1"/>
          <p:nvPr/>
        </p:nvSpPr>
        <p:spPr>
          <a:xfrm>
            <a:off x="822960"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WORST-CASE TIME</a:t>
            </a:r>
            <a:endParaRPr lang="en-US" sz="1200" dirty="0"/>
          </a:p>
        </p:txBody>
      </p:sp>
      <p:sp>
        <p:nvSpPr>
          <p:cNvPr id="6" name="Text 4"/>
          <p:cNvSpPr txBox="1"/>
          <p:nvPr/>
        </p:nvSpPr>
        <p:spPr>
          <a:xfrm>
            <a:off x="822960" y="2350008"/>
            <a:ext cx="2953512" cy="82296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O(n × m)</a:t>
            </a:r>
            <a:endParaRPr lang="en-US" sz="3800" dirty="0"/>
          </a:p>
        </p:txBody>
      </p:sp>
      <p:sp>
        <p:nvSpPr>
          <p:cNvPr id="7" name="Text 5"/>
          <p:cNvSpPr txBox="1"/>
          <p:nvPr/>
        </p:nvSpPr>
        <p:spPr>
          <a:xfrm>
            <a:off x="822960"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n = text length, m = pattern length. Happens on repetitive text like “AAAA...A”.</a:t>
            </a:r>
            <a:endParaRPr lang="en-US" sz="1350" dirty="0"/>
          </a:p>
        </p:txBody>
      </p:sp>
      <p:sp>
        <p:nvSpPr>
          <p:cNvPr id="8" name="Shape 6"/>
          <p:cNvSpPr/>
          <p:nvPr/>
        </p:nvSpPr>
        <p:spPr>
          <a:xfrm>
            <a:off x="4325112" y="1691640"/>
            <a:ext cx="3502152" cy="3291840"/>
          </a:xfrm>
          <a:prstGeom prst="roundRect">
            <a:avLst>
              <a:gd name="adj" fmla="val 3333"/>
            </a:avLst>
          </a:prstGeom>
          <a:solidFill>
            <a:srgbClr val="F3F5FC"/>
          </a:solidFill>
          <a:ln/>
        </p:spPr>
      </p:sp>
      <p:sp>
        <p:nvSpPr>
          <p:cNvPr id="9" name="Text 7"/>
          <p:cNvSpPr txBox="1"/>
          <p:nvPr/>
        </p:nvSpPr>
        <p:spPr>
          <a:xfrm>
            <a:off x="4599432"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BEST-CASE TIME</a:t>
            </a:r>
            <a:endParaRPr lang="en-US" sz="1200" dirty="0"/>
          </a:p>
        </p:txBody>
      </p:sp>
      <p:sp>
        <p:nvSpPr>
          <p:cNvPr id="10" name="Text 8"/>
          <p:cNvSpPr txBox="1"/>
          <p:nvPr/>
        </p:nvSpPr>
        <p:spPr>
          <a:xfrm>
            <a:off x="4599432" y="2350008"/>
            <a:ext cx="2953512" cy="82296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O(n)</a:t>
            </a:r>
            <a:endParaRPr lang="en-US" sz="3800" dirty="0"/>
          </a:p>
        </p:txBody>
      </p:sp>
      <p:sp>
        <p:nvSpPr>
          <p:cNvPr id="11" name="Text 9"/>
          <p:cNvSpPr txBox="1"/>
          <p:nvPr/>
        </p:nvSpPr>
        <p:spPr>
          <a:xfrm>
            <a:off x="4599432"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When the first character rarely matches, so mismatches are caught immediately.</a:t>
            </a:r>
            <a:endParaRPr lang="en-US" sz="1350" dirty="0"/>
          </a:p>
        </p:txBody>
      </p:sp>
      <p:sp>
        <p:nvSpPr>
          <p:cNvPr id="12" name="Shape 10"/>
          <p:cNvSpPr/>
          <p:nvPr/>
        </p:nvSpPr>
        <p:spPr>
          <a:xfrm>
            <a:off x="8101584" y="1691640"/>
            <a:ext cx="3502152" cy="3291840"/>
          </a:xfrm>
          <a:prstGeom prst="roundRect">
            <a:avLst>
              <a:gd name="adj" fmla="val 3333"/>
            </a:avLst>
          </a:prstGeom>
          <a:solidFill>
            <a:srgbClr val="F3F5FC"/>
          </a:solidFill>
          <a:ln/>
        </p:spPr>
      </p:sp>
      <p:sp>
        <p:nvSpPr>
          <p:cNvPr id="13" name="Text 11"/>
          <p:cNvSpPr txBox="1"/>
          <p:nvPr/>
        </p:nvSpPr>
        <p:spPr>
          <a:xfrm>
            <a:off x="8375904"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AUXILIARY SPACE</a:t>
            </a:r>
            <a:endParaRPr lang="en-US" sz="1200" dirty="0"/>
          </a:p>
        </p:txBody>
      </p:sp>
      <p:sp>
        <p:nvSpPr>
          <p:cNvPr id="14" name="Text 12"/>
          <p:cNvSpPr txBox="1"/>
          <p:nvPr/>
        </p:nvSpPr>
        <p:spPr>
          <a:xfrm>
            <a:off x="8375904" y="2350008"/>
            <a:ext cx="2953512" cy="82296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O(1)</a:t>
            </a:r>
            <a:endParaRPr lang="en-US" sz="3800" dirty="0"/>
          </a:p>
        </p:txBody>
      </p:sp>
      <p:sp>
        <p:nvSpPr>
          <p:cNvPr id="15" name="Text 13"/>
          <p:cNvSpPr txBox="1"/>
          <p:nvPr/>
        </p:nvSpPr>
        <p:spPr>
          <a:xfrm>
            <a:off x="8375904"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No extra data structures are built — only a couple of index variables.</a:t>
            </a:r>
            <a:endParaRPr lang="en-US" sz="1350" dirty="0"/>
          </a:p>
        </p:txBody>
      </p:sp>
      <p:sp>
        <p:nvSpPr>
          <p:cNvPr id="16" name="Text 14"/>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17" name="Text 15"/>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03  •  KMP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Idea: Never Look Back</a:t>
            </a:r>
            <a:endParaRPr lang="en-US" sz="3200" dirty="0"/>
          </a:p>
        </p:txBody>
      </p:sp>
      <p:sp>
        <p:nvSpPr>
          <p:cNvPr id="4" name="Text 2"/>
          <p:cNvSpPr txBox="1"/>
          <p:nvPr/>
        </p:nvSpPr>
        <p:spPr>
          <a:xfrm>
            <a:off x="548640" y="1508760"/>
            <a:ext cx="6035040" cy="1737360"/>
          </a:xfrm>
          <a:prstGeom prst="rect">
            <a:avLst/>
          </a:prstGeom>
          <a:noFill/>
          <a:ln/>
        </p:spPr>
        <p:txBody>
          <a:bodyPr wrap="square" lIns="0" tIns="0" rIns="0" bIns="0" rtlCol="0" anchor="ctr"/>
          <a:lstStyle/>
          <a:p>
            <a:pPr indent="0" marL="0">
              <a:lnSpc>
                <a:spcPct val="130000"/>
              </a:lnSpc>
              <a:buNone/>
            </a:pPr>
            <a:r>
              <a:rPr lang="en-US" sz="1600" dirty="0">
                <a:solidFill>
                  <a:srgbClr val="222222"/>
                </a:solidFill>
                <a:latin typeface="Calibri" pitchFamily="34" charset="0"/>
                <a:ea typeface="Calibri" pitchFamily="34" charset="-122"/>
                <a:cs typeface="Calibri" pitchFamily="34" charset="-120"/>
              </a:rPr>
              <a:t>KMP (Knuth–Morris–Pratt) studies the pattern before searching. It builds a small lookup table that says “if this fails, here’s exactly how far to skip’’ — so the text pointer never has to move backward.</a:t>
            </a:r>
            <a:endParaRPr lang="en-US" sz="1600" dirty="0"/>
          </a:p>
        </p:txBody>
      </p:sp>
      <p:sp>
        <p:nvSpPr>
          <p:cNvPr id="5" name="Shape 3"/>
          <p:cNvSpPr/>
          <p:nvPr/>
        </p:nvSpPr>
        <p:spPr>
          <a:xfrm>
            <a:off x="548640" y="3337560"/>
            <a:ext cx="6035040" cy="1600200"/>
          </a:xfrm>
          <a:prstGeom prst="roundRect">
            <a:avLst>
              <a:gd name="adj" fmla="val 5714"/>
            </a:avLst>
          </a:prstGeom>
          <a:solidFill>
            <a:srgbClr val="F3F5FC"/>
          </a:solidFill>
          <a:ln/>
        </p:spPr>
      </p:sp>
      <p:sp>
        <p:nvSpPr>
          <p:cNvPr id="6" name="Text 4"/>
          <p:cNvSpPr txBox="1"/>
          <p:nvPr/>
        </p:nvSpPr>
        <p:spPr>
          <a:xfrm>
            <a:off x="822960" y="3520440"/>
            <a:ext cx="5486400" cy="365760"/>
          </a:xfrm>
          <a:prstGeom prst="rect">
            <a:avLst/>
          </a:prstGeom>
          <a:noFill/>
          <a:ln/>
        </p:spPr>
        <p:txBody>
          <a:bodyPr wrap="square" lIns="0" tIns="0" rIns="0" bIns="0" rtlCol="0" anchor="ctr"/>
          <a:lstStyle/>
          <a:p>
            <a:pPr indent="0" marL="0">
              <a:buNone/>
            </a:pPr>
            <a:r>
              <a:rPr lang="en-US" sz="1400" b="1" dirty="0">
                <a:solidFill>
                  <a:srgbClr val="3F51B5"/>
                </a:solidFill>
                <a:latin typeface="Calibri" pitchFamily="34" charset="0"/>
                <a:ea typeface="Calibri" pitchFamily="34" charset="-122"/>
                <a:cs typeface="Calibri" pitchFamily="34" charset="-120"/>
              </a:rPr>
              <a:t>The LPS table</a:t>
            </a:r>
            <a:endParaRPr lang="en-US" sz="1400" dirty="0"/>
          </a:p>
        </p:txBody>
      </p:sp>
      <p:sp>
        <p:nvSpPr>
          <p:cNvPr id="7" name="Text 5"/>
          <p:cNvSpPr txBox="1"/>
          <p:nvPr/>
        </p:nvSpPr>
        <p:spPr>
          <a:xfrm>
            <a:off x="822960" y="3931920"/>
            <a:ext cx="5486400" cy="914400"/>
          </a:xfrm>
          <a:prstGeom prst="rect">
            <a:avLst/>
          </a:prstGeom>
          <a:noFill/>
          <a:ln/>
        </p:spPr>
        <p:txBody>
          <a:bodyPr wrap="square" lIns="0" tIns="0" rIns="0" bIns="0" rtlCol="0" anchor="ctr"/>
          <a:lstStyle/>
          <a:p>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“Longest Prefix that is also a Suffix.” It tells the algorithm how much of the pattern it can safely reuse instead of re-checking.</a:t>
            </a:r>
            <a:endParaRPr lang="en-US" sz="1400" dirty="0"/>
          </a:p>
        </p:txBody>
      </p:sp>
      <p:sp>
        <p:nvSpPr>
          <p:cNvPr id="8" name="Text 6"/>
          <p:cNvSpPr txBox="1"/>
          <p:nvPr/>
        </p:nvSpPr>
        <p:spPr>
          <a:xfrm>
            <a:off x="7223760" y="1645920"/>
            <a:ext cx="2743200" cy="27432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Pattern</a:t>
            </a:r>
            <a:endParaRPr lang="en-US" sz="1200" dirty="0"/>
          </a:p>
        </p:txBody>
      </p:sp>
      <p:sp>
        <p:nvSpPr>
          <p:cNvPr id="9" name="Shape 7"/>
          <p:cNvSpPr/>
          <p:nvPr/>
        </p:nvSpPr>
        <p:spPr>
          <a:xfrm>
            <a:off x="7223760" y="2011680"/>
            <a:ext cx="676656" cy="548640"/>
          </a:xfrm>
          <a:prstGeom prst="rect">
            <a:avLst/>
          </a:prstGeom>
          <a:solidFill>
            <a:srgbClr val="1E2761"/>
          </a:solidFill>
          <a:ln w="12700">
            <a:solidFill>
              <a:srgbClr val="FFFFFF"/>
            </a:solidFill>
            <a:prstDash val="solid"/>
          </a:ln>
        </p:spPr>
      </p:sp>
      <p:sp>
        <p:nvSpPr>
          <p:cNvPr id="10" name="Text 8"/>
          <p:cNvSpPr txBox="1"/>
          <p:nvPr/>
        </p:nvSpPr>
        <p:spPr>
          <a:xfrm>
            <a:off x="7223760" y="201168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A</a:t>
            </a:r>
            <a:endParaRPr lang="en-US" sz="1700" dirty="0"/>
          </a:p>
        </p:txBody>
      </p:sp>
      <p:sp>
        <p:nvSpPr>
          <p:cNvPr id="11" name="Shape 9"/>
          <p:cNvSpPr/>
          <p:nvPr/>
        </p:nvSpPr>
        <p:spPr>
          <a:xfrm>
            <a:off x="7955280" y="2011680"/>
            <a:ext cx="676656" cy="548640"/>
          </a:xfrm>
          <a:prstGeom prst="rect">
            <a:avLst/>
          </a:prstGeom>
          <a:solidFill>
            <a:srgbClr val="1E2761"/>
          </a:solidFill>
          <a:ln w="12700">
            <a:solidFill>
              <a:srgbClr val="FFFFFF"/>
            </a:solidFill>
            <a:prstDash val="solid"/>
          </a:ln>
        </p:spPr>
      </p:sp>
      <p:sp>
        <p:nvSpPr>
          <p:cNvPr id="12" name="Text 10"/>
          <p:cNvSpPr txBox="1"/>
          <p:nvPr/>
        </p:nvSpPr>
        <p:spPr>
          <a:xfrm>
            <a:off x="7955280" y="201168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B</a:t>
            </a:r>
            <a:endParaRPr lang="en-US" sz="1700" dirty="0"/>
          </a:p>
        </p:txBody>
      </p:sp>
      <p:sp>
        <p:nvSpPr>
          <p:cNvPr id="13" name="Shape 11"/>
          <p:cNvSpPr/>
          <p:nvPr/>
        </p:nvSpPr>
        <p:spPr>
          <a:xfrm>
            <a:off x="8686800" y="2011680"/>
            <a:ext cx="676656" cy="548640"/>
          </a:xfrm>
          <a:prstGeom prst="rect">
            <a:avLst/>
          </a:prstGeom>
          <a:solidFill>
            <a:srgbClr val="1E2761"/>
          </a:solidFill>
          <a:ln w="12700">
            <a:solidFill>
              <a:srgbClr val="FFFFFF"/>
            </a:solidFill>
            <a:prstDash val="solid"/>
          </a:ln>
        </p:spPr>
      </p:sp>
      <p:sp>
        <p:nvSpPr>
          <p:cNvPr id="14" name="Text 12"/>
          <p:cNvSpPr txBox="1"/>
          <p:nvPr/>
        </p:nvSpPr>
        <p:spPr>
          <a:xfrm>
            <a:off x="8686800" y="201168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A</a:t>
            </a:r>
            <a:endParaRPr lang="en-US" sz="1700" dirty="0"/>
          </a:p>
        </p:txBody>
      </p:sp>
      <p:sp>
        <p:nvSpPr>
          <p:cNvPr id="15" name="Shape 13"/>
          <p:cNvSpPr/>
          <p:nvPr/>
        </p:nvSpPr>
        <p:spPr>
          <a:xfrm>
            <a:off x="9418320" y="2011680"/>
            <a:ext cx="676656" cy="548640"/>
          </a:xfrm>
          <a:prstGeom prst="rect">
            <a:avLst/>
          </a:prstGeom>
          <a:solidFill>
            <a:srgbClr val="1E2761"/>
          </a:solidFill>
          <a:ln w="12700">
            <a:solidFill>
              <a:srgbClr val="FFFFFF"/>
            </a:solidFill>
            <a:prstDash val="solid"/>
          </a:ln>
        </p:spPr>
      </p:sp>
      <p:sp>
        <p:nvSpPr>
          <p:cNvPr id="16" name="Text 14"/>
          <p:cNvSpPr txBox="1"/>
          <p:nvPr/>
        </p:nvSpPr>
        <p:spPr>
          <a:xfrm>
            <a:off x="9418320" y="201168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B</a:t>
            </a:r>
            <a:endParaRPr lang="en-US" sz="1700" dirty="0"/>
          </a:p>
        </p:txBody>
      </p:sp>
      <p:sp>
        <p:nvSpPr>
          <p:cNvPr id="17" name="Shape 15"/>
          <p:cNvSpPr/>
          <p:nvPr/>
        </p:nvSpPr>
        <p:spPr>
          <a:xfrm>
            <a:off x="10149840" y="2011680"/>
            <a:ext cx="676656" cy="548640"/>
          </a:xfrm>
          <a:prstGeom prst="rect">
            <a:avLst/>
          </a:prstGeom>
          <a:solidFill>
            <a:srgbClr val="1E2761"/>
          </a:solidFill>
          <a:ln w="12700">
            <a:solidFill>
              <a:srgbClr val="FFFFFF"/>
            </a:solidFill>
            <a:prstDash val="solid"/>
          </a:ln>
        </p:spPr>
      </p:sp>
      <p:sp>
        <p:nvSpPr>
          <p:cNvPr id="18" name="Text 16"/>
          <p:cNvSpPr txBox="1"/>
          <p:nvPr/>
        </p:nvSpPr>
        <p:spPr>
          <a:xfrm>
            <a:off x="10149840" y="201168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C</a:t>
            </a:r>
            <a:endParaRPr lang="en-US" sz="1700" dirty="0"/>
          </a:p>
        </p:txBody>
      </p:sp>
      <p:sp>
        <p:nvSpPr>
          <p:cNvPr id="19" name="Text 17"/>
          <p:cNvSpPr txBox="1"/>
          <p:nvPr/>
        </p:nvSpPr>
        <p:spPr>
          <a:xfrm>
            <a:off x="7223760" y="2606040"/>
            <a:ext cx="2743200" cy="27432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LPS</a:t>
            </a:r>
            <a:endParaRPr lang="en-US" sz="1200" dirty="0"/>
          </a:p>
        </p:txBody>
      </p:sp>
      <p:sp>
        <p:nvSpPr>
          <p:cNvPr id="20" name="Shape 18"/>
          <p:cNvSpPr/>
          <p:nvPr/>
        </p:nvSpPr>
        <p:spPr>
          <a:xfrm>
            <a:off x="7223760" y="2880360"/>
            <a:ext cx="676656" cy="548640"/>
          </a:xfrm>
          <a:prstGeom prst="rect">
            <a:avLst/>
          </a:prstGeom>
          <a:solidFill>
            <a:srgbClr val="3F51B5"/>
          </a:solidFill>
          <a:ln w="12700">
            <a:solidFill>
              <a:srgbClr val="FFFFFF"/>
            </a:solidFill>
            <a:prstDash val="solid"/>
          </a:ln>
        </p:spPr>
      </p:sp>
      <p:sp>
        <p:nvSpPr>
          <p:cNvPr id="21" name="Text 19"/>
          <p:cNvSpPr txBox="1"/>
          <p:nvPr/>
        </p:nvSpPr>
        <p:spPr>
          <a:xfrm>
            <a:off x="7223760" y="288036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22" name="Shape 20"/>
          <p:cNvSpPr/>
          <p:nvPr/>
        </p:nvSpPr>
        <p:spPr>
          <a:xfrm>
            <a:off x="7955280" y="2880360"/>
            <a:ext cx="676656" cy="548640"/>
          </a:xfrm>
          <a:prstGeom prst="rect">
            <a:avLst/>
          </a:prstGeom>
          <a:solidFill>
            <a:srgbClr val="3F51B5"/>
          </a:solidFill>
          <a:ln w="12700">
            <a:solidFill>
              <a:srgbClr val="FFFFFF"/>
            </a:solidFill>
            <a:prstDash val="solid"/>
          </a:ln>
        </p:spPr>
      </p:sp>
      <p:sp>
        <p:nvSpPr>
          <p:cNvPr id="23" name="Text 21"/>
          <p:cNvSpPr txBox="1"/>
          <p:nvPr/>
        </p:nvSpPr>
        <p:spPr>
          <a:xfrm>
            <a:off x="7955280" y="288036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24" name="Shape 22"/>
          <p:cNvSpPr/>
          <p:nvPr/>
        </p:nvSpPr>
        <p:spPr>
          <a:xfrm>
            <a:off x="8686800" y="2880360"/>
            <a:ext cx="676656" cy="548640"/>
          </a:xfrm>
          <a:prstGeom prst="rect">
            <a:avLst/>
          </a:prstGeom>
          <a:solidFill>
            <a:srgbClr val="3F51B5"/>
          </a:solidFill>
          <a:ln w="12700">
            <a:solidFill>
              <a:srgbClr val="FFFFFF"/>
            </a:solidFill>
            <a:prstDash val="solid"/>
          </a:ln>
        </p:spPr>
      </p:sp>
      <p:sp>
        <p:nvSpPr>
          <p:cNvPr id="25" name="Text 23"/>
          <p:cNvSpPr txBox="1"/>
          <p:nvPr/>
        </p:nvSpPr>
        <p:spPr>
          <a:xfrm>
            <a:off x="8686800" y="288036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1</a:t>
            </a:r>
            <a:endParaRPr lang="en-US" sz="1700" dirty="0"/>
          </a:p>
        </p:txBody>
      </p:sp>
      <p:sp>
        <p:nvSpPr>
          <p:cNvPr id="26" name="Shape 24"/>
          <p:cNvSpPr/>
          <p:nvPr/>
        </p:nvSpPr>
        <p:spPr>
          <a:xfrm>
            <a:off x="9418320" y="2880360"/>
            <a:ext cx="676656" cy="548640"/>
          </a:xfrm>
          <a:prstGeom prst="rect">
            <a:avLst/>
          </a:prstGeom>
          <a:solidFill>
            <a:srgbClr val="3F51B5"/>
          </a:solidFill>
          <a:ln w="12700">
            <a:solidFill>
              <a:srgbClr val="FFFFFF"/>
            </a:solidFill>
            <a:prstDash val="solid"/>
          </a:ln>
        </p:spPr>
      </p:sp>
      <p:sp>
        <p:nvSpPr>
          <p:cNvPr id="27" name="Text 25"/>
          <p:cNvSpPr txBox="1"/>
          <p:nvPr/>
        </p:nvSpPr>
        <p:spPr>
          <a:xfrm>
            <a:off x="9418320" y="288036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2</a:t>
            </a:r>
            <a:endParaRPr lang="en-US" sz="1700" dirty="0"/>
          </a:p>
        </p:txBody>
      </p:sp>
      <p:sp>
        <p:nvSpPr>
          <p:cNvPr id="28" name="Shape 26"/>
          <p:cNvSpPr/>
          <p:nvPr/>
        </p:nvSpPr>
        <p:spPr>
          <a:xfrm>
            <a:off x="10149840" y="2880360"/>
            <a:ext cx="676656" cy="548640"/>
          </a:xfrm>
          <a:prstGeom prst="rect">
            <a:avLst/>
          </a:prstGeom>
          <a:solidFill>
            <a:srgbClr val="3F51B5"/>
          </a:solidFill>
          <a:ln w="12700">
            <a:solidFill>
              <a:srgbClr val="FFFFFF"/>
            </a:solidFill>
            <a:prstDash val="solid"/>
          </a:ln>
        </p:spPr>
      </p:sp>
      <p:sp>
        <p:nvSpPr>
          <p:cNvPr id="29" name="Text 27"/>
          <p:cNvSpPr txBox="1"/>
          <p:nvPr/>
        </p:nvSpPr>
        <p:spPr>
          <a:xfrm>
            <a:off x="10149840" y="2880360"/>
            <a:ext cx="676656"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30" name="Shape 28"/>
          <p:cNvSpPr/>
          <p:nvPr/>
        </p:nvSpPr>
        <p:spPr>
          <a:xfrm>
            <a:off x="7223760" y="3749040"/>
            <a:ext cx="4389120" cy="1188720"/>
          </a:xfrm>
          <a:prstGeom prst="roundRect">
            <a:avLst>
              <a:gd name="adj" fmla="val 7692"/>
            </a:avLst>
          </a:prstGeom>
          <a:solidFill>
            <a:srgbClr val="F3F5FC"/>
          </a:solidFill>
          <a:ln/>
        </p:spPr>
      </p:sp>
      <p:sp>
        <p:nvSpPr>
          <p:cNvPr id="31" name="Text 29"/>
          <p:cNvSpPr txBox="1"/>
          <p:nvPr/>
        </p:nvSpPr>
        <p:spPr>
          <a:xfrm>
            <a:off x="7452360" y="3886200"/>
            <a:ext cx="3931920" cy="914400"/>
          </a:xfrm>
          <a:prstGeom prst="rect">
            <a:avLst/>
          </a:prstGeom>
          <a:noFill/>
          <a:ln/>
        </p:spPr>
        <p:txBody>
          <a:bodyPr wrap="square" lIns="0" tIns="0" rIns="0" bIns="0" rtlCol="0" anchor="ctr"/>
          <a:lstStyle/>
          <a:p>
            <a:pPr indent="0" marL="0">
              <a:lnSpc>
                <a:spcPct val="120000"/>
              </a:lnSpc>
              <a:buNone/>
            </a:pPr>
            <a:r>
              <a:rPr lang="en-US" sz="1300" dirty="0">
                <a:solidFill>
                  <a:srgbClr val="222222"/>
                </a:solidFill>
                <a:latin typeface="Calibri" pitchFamily="34" charset="0"/>
                <a:ea typeface="Calibri" pitchFamily="34" charset="-122"/>
                <a:cs typeface="Calibri" pitchFamily="34" charset="-120"/>
              </a:rPr>
              <a:t>On mismatch at position 4 (“C”), KMP jumps using LPS[3] = 2 instead of restarting from scratch.</a:t>
            </a:r>
            <a:endParaRPr lang="en-US" sz="1300" dirty="0"/>
          </a:p>
        </p:txBody>
      </p:sp>
      <p:sp>
        <p:nvSpPr>
          <p:cNvPr id="32" name="Text 30"/>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33" name="Text 31"/>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03  •  KMP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Algorithm Steps</a:t>
            </a:r>
            <a:endParaRPr lang="en-US" sz="3200" dirty="0"/>
          </a:p>
        </p:txBody>
      </p:sp>
      <p:sp>
        <p:nvSpPr>
          <p:cNvPr id="4" name="Shape 2"/>
          <p:cNvSpPr/>
          <p:nvPr/>
        </p:nvSpPr>
        <p:spPr>
          <a:xfrm>
            <a:off x="548640" y="1600200"/>
            <a:ext cx="502920" cy="502920"/>
          </a:xfrm>
          <a:prstGeom prst="ellipse">
            <a:avLst/>
          </a:prstGeom>
          <a:solidFill>
            <a:srgbClr val="3F51B5"/>
          </a:solidFill>
          <a:ln/>
        </p:spPr>
      </p:sp>
      <p:sp>
        <p:nvSpPr>
          <p:cNvPr id="5" name="Text 3"/>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34440" y="15544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Preprocess</a:t>
            </a:r>
            <a:endParaRPr lang="en-US" sz="1700" dirty="0"/>
          </a:p>
        </p:txBody>
      </p:sp>
      <p:sp>
        <p:nvSpPr>
          <p:cNvPr id="7" name="Text 5"/>
          <p:cNvSpPr txBox="1"/>
          <p:nvPr/>
        </p:nvSpPr>
        <p:spPr>
          <a:xfrm>
            <a:off x="1234440" y="19476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Build the LPS table for the pattern before searching starts.</a:t>
            </a:r>
            <a:endParaRPr lang="en-US" sz="1400" dirty="0"/>
          </a:p>
        </p:txBody>
      </p:sp>
      <p:sp>
        <p:nvSpPr>
          <p:cNvPr id="8" name="Shape 6"/>
          <p:cNvSpPr/>
          <p:nvPr/>
        </p:nvSpPr>
        <p:spPr>
          <a:xfrm>
            <a:off x="800100" y="2103120"/>
            <a:ext cx="0" cy="411480"/>
          </a:xfrm>
          <a:prstGeom prst="line">
            <a:avLst/>
          </a:prstGeom>
          <a:noFill/>
          <a:ln w="19050">
            <a:solidFill>
              <a:srgbClr val="D8DCEC"/>
            </a:solidFill>
            <a:prstDash val="dash"/>
          </a:ln>
        </p:spPr>
      </p:sp>
      <p:sp>
        <p:nvSpPr>
          <p:cNvPr id="9" name="Shape 7"/>
          <p:cNvSpPr/>
          <p:nvPr/>
        </p:nvSpPr>
        <p:spPr>
          <a:xfrm>
            <a:off x="548640" y="2514600"/>
            <a:ext cx="502920" cy="502920"/>
          </a:xfrm>
          <a:prstGeom prst="ellipse">
            <a:avLst/>
          </a:prstGeom>
          <a:solidFill>
            <a:srgbClr val="3F51B5"/>
          </a:solidFill>
          <a:ln/>
        </p:spPr>
      </p:sp>
      <p:sp>
        <p:nvSpPr>
          <p:cNvPr id="10" name="Text 8"/>
          <p:cNvSpPr txBox="1"/>
          <p:nvPr/>
        </p:nvSpPr>
        <p:spPr>
          <a:xfrm>
            <a:off x="548640" y="2514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234440" y="24688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Initialize</a:t>
            </a:r>
            <a:endParaRPr lang="en-US" sz="1700" dirty="0"/>
          </a:p>
        </p:txBody>
      </p:sp>
      <p:sp>
        <p:nvSpPr>
          <p:cNvPr id="12" name="Text 10"/>
          <p:cNvSpPr txBox="1"/>
          <p:nvPr/>
        </p:nvSpPr>
        <p:spPr>
          <a:xfrm>
            <a:off x="1234440" y="28620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Set text pointer i = 0 and pattern pointer j = 0.</a:t>
            </a:r>
            <a:endParaRPr lang="en-US" sz="1400" dirty="0"/>
          </a:p>
        </p:txBody>
      </p:sp>
      <p:sp>
        <p:nvSpPr>
          <p:cNvPr id="13" name="Shape 11"/>
          <p:cNvSpPr/>
          <p:nvPr/>
        </p:nvSpPr>
        <p:spPr>
          <a:xfrm>
            <a:off x="800100" y="3017520"/>
            <a:ext cx="0" cy="411480"/>
          </a:xfrm>
          <a:prstGeom prst="line">
            <a:avLst/>
          </a:prstGeom>
          <a:noFill/>
          <a:ln w="19050">
            <a:solidFill>
              <a:srgbClr val="D8DCEC"/>
            </a:solidFill>
            <a:prstDash val="dash"/>
          </a:ln>
        </p:spPr>
      </p:sp>
      <p:sp>
        <p:nvSpPr>
          <p:cNvPr id="14" name="Shape 12"/>
          <p:cNvSpPr/>
          <p:nvPr/>
        </p:nvSpPr>
        <p:spPr>
          <a:xfrm>
            <a:off x="548640" y="3429000"/>
            <a:ext cx="502920" cy="502920"/>
          </a:xfrm>
          <a:prstGeom prst="ellipse">
            <a:avLst/>
          </a:prstGeom>
          <a:solidFill>
            <a:srgbClr val="3F51B5"/>
          </a:solidFill>
          <a:ln/>
        </p:spPr>
      </p:sp>
      <p:sp>
        <p:nvSpPr>
          <p:cNvPr id="15" name="Text 13"/>
          <p:cNvSpPr txBox="1"/>
          <p:nvPr/>
        </p:nvSpPr>
        <p:spPr>
          <a:xfrm>
            <a:off x="54864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234440" y="33832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Compare</a:t>
            </a:r>
            <a:endParaRPr lang="en-US" sz="1700" dirty="0"/>
          </a:p>
        </p:txBody>
      </p:sp>
      <p:sp>
        <p:nvSpPr>
          <p:cNvPr id="17" name="Text 15"/>
          <p:cNvSpPr txBox="1"/>
          <p:nvPr/>
        </p:nvSpPr>
        <p:spPr>
          <a:xfrm>
            <a:off x="1234440" y="37764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If T[i] matches P[j], advance both pointers forward.</a:t>
            </a:r>
            <a:endParaRPr lang="en-US" sz="1400" dirty="0"/>
          </a:p>
        </p:txBody>
      </p:sp>
      <p:sp>
        <p:nvSpPr>
          <p:cNvPr id="18" name="Shape 16"/>
          <p:cNvSpPr/>
          <p:nvPr/>
        </p:nvSpPr>
        <p:spPr>
          <a:xfrm>
            <a:off x="800100" y="3931920"/>
            <a:ext cx="0" cy="411480"/>
          </a:xfrm>
          <a:prstGeom prst="line">
            <a:avLst/>
          </a:prstGeom>
          <a:noFill/>
          <a:ln w="19050">
            <a:solidFill>
              <a:srgbClr val="D8DCEC"/>
            </a:solidFill>
            <a:prstDash val="dash"/>
          </a:ln>
        </p:spPr>
      </p:sp>
      <p:sp>
        <p:nvSpPr>
          <p:cNvPr id="19" name="Shape 17"/>
          <p:cNvSpPr/>
          <p:nvPr/>
        </p:nvSpPr>
        <p:spPr>
          <a:xfrm>
            <a:off x="548640" y="4343400"/>
            <a:ext cx="502920" cy="502920"/>
          </a:xfrm>
          <a:prstGeom prst="ellipse">
            <a:avLst/>
          </a:prstGeom>
          <a:solidFill>
            <a:srgbClr val="3F51B5"/>
          </a:solidFill>
          <a:ln/>
        </p:spPr>
      </p:sp>
      <p:sp>
        <p:nvSpPr>
          <p:cNvPr id="20" name="Text 18"/>
          <p:cNvSpPr txBox="1"/>
          <p:nvPr/>
        </p:nvSpPr>
        <p:spPr>
          <a:xfrm>
            <a:off x="548640" y="4343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234440" y="42976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Full match</a:t>
            </a:r>
            <a:endParaRPr lang="en-US" sz="1700" dirty="0"/>
          </a:p>
        </p:txBody>
      </p:sp>
      <p:sp>
        <p:nvSpPr>
          <p:cNvPr id="22" name="Text 20"/>
          <p:cNvSpPr txBox="1"/>
          <p:nvPr/>
        </p:nvSpPr>
        <p:spPr>
          <a:xfrm>
            <a:off x="1234440" y="46908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When j reaches the pattern length, report a match and reuse LPS.</a:t>
            </a:r>
            <a:endParaRPr lang="en-US" sz="1400" dirty="0"/>
          </a:p>
        </p:txBody>
      </p:sp>
      <p:sp>
        <p:nvSpPr>
          <p:cNvPr id="23" name="Shape 21"/>
          <p:cNvSpPr/>
          <p:nvPr/>
        </p:nvSpPr>
        <p:spPr>
          <a:xfrm>
            <a:off x="800100" y="4846320"/>
            <a:ext cx="0" cy="411480"/>
          </a:xfrm>
          <a:prstGeom prst="line">
            <a:avLst/>
          </a:prstGeom>
          <a:noFill/>
          <a:ln w="19050">
            <a:solidFill>
              <a:srgbClr val="D8DCEC"/>
            </a:solidFill>
            <a:prstDash val="dash"/>
          </a:ln>
        </p:spPr>
      </p:sp>
      <p:sp>
        <p:nvSpPr>
          <p:cNvPr id="24" name="Shape 22"/>
          <p:cNvSpPr/>
          <p:nvPr/>
        </p:nvSpPr>
        <p:spPr>
          <a:xfrm>
            <a:off x="548640" y="5257800"/>
            <a:ext cx="502920" cy="502920"/>
          </a:xfrm>
          <a:prstGeom prst="ellipse">
            <a:avLst/>
          </a:prstGeom>
          <a:solidFill>
            <a:srgbClr val="3F51B5"/>
          </a:solidFill>
          <a:ln/>
        </p:spPr>
      </p:sp>
      <p:sp>
        <p:nvSpPr>
          <p:cNvPr id="25" name="Text 23"/>
          <p:cNvSpPr txBox="1"/>
          <p:nvPr/>
        </p:nvSpPr>
        <p:spPr>
          <a:xfrm>
            <a:off x="548640" y="5257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234440" y="5212080"/>
            <a:ext cx="274320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Mismatch</a:t>
            </a:r>
            <a:endParaRPr lang="en-US" sz="1700" dirty="0"/>
          </a:p>
        </p:txBody>
      </p:sp>
      <p:sp>
        <p:nvSpPr>
          <p:cNvPr id="27" name="Text 25"/>
          <p:cNvSpPr txBox="1"/>
          <p:nvPr/>
        </p:nvSpPr>
        <p:spPr>
          <a:xfrm>
            <a:off x="1234440" y="5605272"/>
            <a:ext cx="9875520" cy="45720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Jump j using the LPS table — the text pointer i never moves back.</a:t>
            </a:r>
            <a:endParaRPr lang="en-US" sz="14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29" name="Text 27"/>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03  •  KMP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Pseudocode</a:t>
            </a:r>
            <a:endParaRPr lang="en-US" sz="3200" dirty="0"/>
          </a:p>
        </p:txBody>
      </p:sp>
      <p:sp>
        <p:nvSpPr>
          <p:cNvPr id="4" name="Shape 2"/>
          <p:cNvSpPr/>
          <p:nvPr/>
        </p:nvSpPr>
        <p:spPr>
          <a:xfrm>
            <a:off x="548640" y="1325880"/>
            <a:ext cx="11064240" cy="4572000"/>
          </a:xfrm>
          <a:prstGeom prst="roundRect">
            <a:avLst>
              <a:gd name="adj" fmla="val 2400"/>
            </a:avLst>
          </a:prstGeom>
          <a:solidFill>
            <a:srgbClr val="16193A"/>
          </a:solidFill>
          <a:ln/>
        </p:spPr>
      </p:sp>
      <p:sp>
        <p:nvSpPr>
          <p:cNvPr id="5" name="Shape 3"/>
          <p:cNvSpPr/>
          <p:nvPr/>
        </p:nvSpPr>
        <p:spPr>
          <a:xfrm>
            <a:off x="868680" y="1536192"/>
            <a:ext cx="146304" cy="146304"/>
          </a:xfrm>
          <a:prstGeom prst="ellipse">
            <a:avLst/>
          </a:prstGeom>
          <a:solidFill>
            <a:srgbClr val="FF5F56"/>
          </a:solidFill>
          <a:ln/>
        </p:spPr>
      </p:sp>
      <p:sp>
        <p:nvSpPr>
          <p:cNvPr id="6" name="Shape 4"/>
          <p:cNvSpPr/>
          <p:nvPr/>
        </p:nvSpPr>
        <p:spPr>
          <a:xfrm>
            <a:off x="1097280" y="1536192"/>
            <a:ext cx="146304" cy="146304"/>
          </a:xfrm>
          <a:prstGeom prst="ellipse">
            <a:avLst/>
          </a:prstGeom>
          <a:solidFill>
            <a:srgbClr val="FFBD2E"/>
          </a:solidFill>
          <a:ln/>
        </p:spPr>
      </p:sp>
      <p:sp>
        <p:nvSpPr>
          <p:cNvPr id="7" name="Shape 5"/>
          <p:cNvSpPr/>
          <p:nvPr/>
        </p:nvSpPr>
        <p:spPr>
          <a:xfrm>
            <a:off x="1325880" y="1536192"/>
            <a:ext cx="146304" cy="146304"/>
          </a:xfrm>
          <a:prstGeom prst="ellipse">
            <a:avLst/>
          </a:prstGeom>
          <a:solidFill>
            <a:srgbClr val="27C93F"/>
          </a:solidFill>
          <a:ln/>
        </p:spPr>
      </p:sp>
      <p:sp>
        <p:nvSpPr>
          <p:cNvPr id="8" name="Text 6"/>
          <p:cNvSpPr txBox="1"/>
          <p:nvPr/>
        </p:nvSpPr>
        <p:spPr>
          <a:xfrm>
            <a:off x="868680" y="1874520"/>
            <a:ext cx="10424160" cy="3886200"/>
          </a:xfrm>
          <a:prstGeom prst="rect">
            <a:avLst/>
          </a:prstGeom>
          <a:noFill/>
          <a:ln/>
        </p:spPr>
        <p:txBody>
          <a:bodyPr wrap="square" lIns="0" tIns="0" rIns="0" bIns="0" rtlCol="0" anchor="ctr"/>
          <a:lstStyle/>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function KMPSearch(Text T, Pattern P):</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LPS = ComputeLPS(P)</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 = 0, j = 0</a:t>
            </a:r>
            <a:endParaRPr lang="en-US" sz="1350" dirty="0"/>
          </a:p>
          <a:p>
            <a:pPr indent="0" marL="0">
              <a:lnSpc>
                <a:spcPct val="115000"/>
              </a:lnSpc>
              <a:buNone/>
            </a:pP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while i &lt; length(T):</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if T[i] == P[j]:</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 = i + 1; j = j + 1</a:t>
            </a:r>
            <a:endParaRPr lang="en-US" sz="1350" dirty="0"/>
          </a:p>
          <a:p>
            <a:pPr indent="0" marL="0">
              <a:lnSpc>
                <a:spcPct val="115000"/>
              </a:lnSpc>
              <a:buNone/>
            </a:pP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if j == length(P):</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report match at index (i - j)</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j = LPS[j - 1]</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else if i &lt; length(T) and T[i] != P[j]:</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if j != 0:</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j = LPS[j - 1]     // i never decreases</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else:</a:t>
            </a:r>
            <a:endParaRPr lang="en-US" sz="1350" dirty="0"/>
          </a:p>
          <a:p>
            <a:pPr indent="0" marL="0">
              <a:lnSpc>
                <a:spcPct val="115000"/>
              </a:lnSpc>
              <a:buNone/>
            </a:pPr>
            <a:r>
              <a:rPr lang="en-US" sz="1350" dirty="0">
                <a:solidFill>
                  <a:srgbClr val="CADCFC"/>
                </a:solidFill>
                <a:latin typeface="Courier New" pitchFamily="34" charset="0"/>
                <a:ea typeface="Courier New" pitchFamily="34" charset="-122"/>
                <a:cs typeface="Courier New" pitchFamily="34" charset="-120"/>
              </a:rPr>
              <a:t>                i = i + 1</a:t>
            </a:r>
            <a:endParaRPr lang="en-US" sz="1350" dirty="0"/>
          </a:p>
        </p:txBody>
      </p:sp>
      <p:sp>
        <p:nvSpPr>
          <p:cNvPr id="9" name="Text 7"/>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10" name="Text 8"/>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03  •  KMP SEARCH</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Time &amp; Space Complexity</a:t>
            </a:r>
            <a:endParaRPr lang="en-US" sz="3200" dirty="0"/>
          </a:p>
        </p:txBody>
      </p:sp>
      <p:sp>
        <p:nvSpPr>
          <p:cNvPr id="4" name="Shape 2"/>
          <p:cNvSpPr/>
          <p:nvPr/>
        </p:nvSpPr>
        <p:spPr>
          <a:xfrm>
            <a:off x="548640" y="1691640"/>
            <a:ext cx="3502152" cy="3291840"/>
          </a:xfrm>
          <a:prstGeom prst="roundRect">
            <a:avLst>
              <a:gd name="adj" fmla="val 3333"/>
            </a:avLst>
          </a:prstGeom>
          <a:solidFill>
            <a:srgbClr val="F3F5FC"/>
          </a:solidFill>
          <a:ln/>
        </p:spPr>
      </p:sp>
      <p:sp>
        <p:nvSpPr>
          <p:cNvPr id="5" name="Text 3"/>
          <p:cNvSpPr txBox="1"/>
          <p:nvPr/>
        </p:nvSpPr>
        <p:spPr>
          <a:xfrm>
            <a:off x="822960"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PREPROCESSING</a:t>
            </a:r>
            <a:endParaRPr lang="en-US" sz="1200" dirty="0"/>
          </a:p>
        </p:txBody>
      </p:sp>
      <p:sp>
        <p:nvSpPr>
          <p:cNvPr id="6" name="Text 4"/>
          <p:cNvSpPr txBox="1"/>
          <p:nvPr/>
        </p:nvSpPr>
        <p:spPr>
          <a:xfrm>
            <a:off x="822960" y="2350008"/>
            <a:ext cx="2953512" cy="822960"/>
          </a:xfrm>
          <a:prstGeom prst="rect">
            <a:avLst/>
          </a:prstGeom>
          <a:noFill/>
          <a:ln/>
        </p:spPr>
        <p:txBody>
          <a:bodyPr wrap="square" lIns="0" tIns="0" rIns="0" bIns="0" rtlCol="0" anchor="ctr"/>
          <a:lstStyle/>
          <a:p>
            <a:pPr indent="0" marL="0">
              <a:buNone/>
            </a:pPr>
            <a:r>
              <a:rPr lang="en-US" sz="3400" b="1" dirty="0">
                <a:solidFill>
                  <a:srgbClr val="3F51B5"/>
                </a:solidFill>
                <a:latin typeface="Cambria" pitchFamily="34" charset="0"/>
                <a:ea typeface="Cambria" pitchFamily="34" charset="-122"/>
                <a:cs typeface="Cambria" pitchFamily="34" charset="-120"/>
              </a:rPr>
              <a:t>O(m)</a:t>
            </a:r>
            <a:endParaRPr lang="en-US" sz="3400" dirty="0"/>
          </a:p>
        </p:txBody>
      </p:sp>
      <p:sp>
        <p:nvSpPr>
          <p:cNvPr id="7" name="Text 5"/>
          <p:cNvSpPr txBox="1"/>
          <p:nvPr/>
        </p:nvSpPr>
        <p:spPr>
          <a:xfrm>
            <a:off x="822960"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One pass over the pattern to build the LPS table before searching begins.</a:t>
            </a:r>
            <a:endParaRPr lang="en-US" sz="1350" dirty="0"/>
          </a:p>
        </p:txBody>
      </p:sp>
      <p:sp>
        <p:nvSpPr>
          <p:cNvPr id="8" name="Shape 6"/>
          <p:cNvSpPr/>
          <p:nvPr/>
        </p:nvSpPr>
        <p:spPr>
          <a:xfrm>
            <a:off x="4325112" y="1691640"/>
            <a:ext cx="3502152" cy="3291840"/>
          </a:xfrm>
          <a:prstGeom prst="roundRect">
            <a:avLst>
              <a:gd name="adj" fmla="val 3333"/>
            </a:avLst>
          </a:prstGeom>
          <a:solidFill>
            <a:srgbClr val="F3F5FC"/>
          </a:solidFill>
          <a:ln/>
        </p:spPr>
      </p:sp>
      <p:sp>
        <p:nvSpPr>
          <p:cNvPr id="9" name="Text 7"/>
          <p:cNvSpPr txBox="1"/>
          <p:nvPr/>
        </p:nvSpPr>
        <p:spPr>
          <a:xfrm>
            <a:off x="4599432"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SEARCH TIME</a:t>
            </a:r>
            <a:endParaRPr lang="en-US" sz="1200" dirty="0"/>
          </a:p>
        </p:txBody>
      </p:sp>
      <p:sp>
        <p:nvSpPr>
          <p:cNvPr id="10" name="Text 8"/>
          <p:cNvSpPr txBox="1"/>
          <p:nvPr/>
        </p:nvSpPr>
        <p:spPr>
          <a:xfrm>
            <a:off x="4599432" y="2350008"/>
            <a:ext cx="2953512" cy="822960"/>
          </a:xfrm>
          <a:prstGeom prst="rect">
            <a:avLst/>
          </a:prstGeom>
          <a:noFill/>
          <a:ln/>
        </p:spPr>
        <p:txBody>
          <a:bodyPr wrap="square" lIns="0" tIns="0" rIns="0" bIns="0" rtlCol="0" anchor="ctr"/>
          <a:lstStyle/>
          <a:p>
            <a:pPr indent="0" marL="0">
              <a:buNone/>
            </a:pPr>
            <a:r>
              <a:rPr lang="en-US" sz="3400" b="1" dirty="0">
                <a:solidFill>
                  <a:srgbClr val="3F51B5"/>
                </a:solidFill>
                <a:latin typeface="Cambria" pitchFamily="34" charset="0"/>
                <a:ea typeface="Cambria" pitchFamily="34" charset="-122"/>
                <a:cs typeface="Cambria" pitchFamily="34" charset="-120"/>
              </a:rPr>
              <a:t>O(n + m)</a:t>
            </a:r>
            <a:endParaRPr lang="en-US" sz="3400" dirty="0"/>
          </a:p>
        </p:txBody>
      </p:sp>
      <p:sp>
        <p:nvSpPr>
          <p:cNvPr id="11" name="Text 9"/>
          <p:cNvSpPr txBox="1"/>
          <p:nvPr/>
        </p:nvSpPr>
        <p:spPr>
          <a:xfrm>
            <a:off x="4599432"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Strict linear bound. The text pointer only ever moves forward, never back.</a:t>
            </a:r>
            <a:endParaRPr lang="en-US" sz="1350" dirty="0"/>
          </a:p>
        </p:txBody>
      </p:sp>
      <p:sp>
        <p:nvSpPr>
          <p:cNvPr id="12" name="Shape 10"/>
          <p:cNvSpPr/>
          <p:nvPr/>
        </p:nvSpPr>
        <p:spPr>
          <a:xfrm>
            <a:off x="8101584" y="1691640"/>
            <a:ext cx="3502152" cy="3291840"/>
          </a:xfrm>
          <a:prstGeom prst="roundRect">
            <a:avLst>
              <a:gd name="adj" fmla="val 3333"/>
            </a:avLst>
          </a:prstGeom>
          <a:solidFill>
            <a:srgbClr val="F3F5FC"/>
          </a:solidFill>
          <a:ln/>
        </p:spPr>
      </p:sp>
      <p:sp>
        <p:nvSpPr>
          <p:cNvPr id="13" name="Text 11"/>
          <p:cNvSpPr txBox="1"/>
          <p:nvPr/>
        </p:nvSpPr>
        <p:spPr>
          <a:xfrm>
            <a:off x="8375904" y="1965960"/>
            <a:ext cx="2953512" cy="365760"/>
          </a:xfrm>
          <a:prstGeom prst="rect">
            <a:avLst/>
          </a:prstGeom>
          <a:noFill/>
          <a:ln/>
        </p:spPr>
        <p:txBody>
          <a:bodyPr wrap="square" lIns="0" tIns="0" rIns="0" bIns="0" rtlCol="0" anchor="ctr"/>
          <a:lstStyle/>
          <a:p>
            <a:pPr indent="0" marL="0">
              <a:buNone/>
            </a:pPr>
            <a:r>
              <a:rPr lang="en-US" sz="1200" b="1" spc="100" kern="0" dirty="0">
                <a:solidFill>
                  <a:srgbClr val="5A5F73"/>
                </a:solidFill>
                <a:latin typeface="Calibri" pitchFamily="34" charset="0"/>
                <a:ea typeface="Calibri" pitchFamily="34" charset="-122"/>
                <a:cs typeface="Calibri" pitchFamily="34" charset="-120"/>
              </a:rPr>
              <a:t>AUXILIARY SPACE</a:t>
            </a:r>
            <a:endParaRPr lang="en-US" sz="1200" dirty="0"/>
          </a:p>
        </p:txBody>
      </p:sp>
      <p:sp>
        <p:nvSpPr>
          <p:cNvPr id="14" name="Text 12"/>
          <p:cNvSpPr txBox="1"/>
          <p:nvPr/>
        </p:nvSpPr>
        <p:spPr>
          <a:xfrm>
            <a:off x="8375904" y="2350008"/>
            <a:ext cx="2953512" cy="822960"/>
          </a:xfrm>
          <a:prstGeom prst="rect">
            <a:avLst/>
          </a:prstGeom>
          <a:noFill/>
          <a:ln/>
        </p:spPr>
        <p:txBody>
          <a:bodyPr wrap="square" lIns="0" tIns="0" rIns="0" bIns="0" rtlCol="0" anchor="ctr"/>
          <a:lstStyle/>
          <a:p>
            <a:pPr indent="0" marL="0">
              <a:buNone/>
            </a:pPr>
            <a:r>
              <a:rPr lang="en-US" sz="3400" b="1" dirty="0">
                <a:solidFill>
                  <a:srgbClr val="3F51B5"/>
                </a:solidFill>
                <a:latin typeface="Cambria" pitchFamily="34" charset="0"/>
                <a:ea typeface="Cambria" pitchFamily="34" charset="-122"/>
                <a:cs typeface="Cambria" pitchFamily="34" charset="-120"/>
              </a:rPr>
              <a:t>O(m)</a:t>
            </a:r>
            <a:endParaRPr lang="en-US" sz="3400" dirty="0"/>
          </a:p>
        </p:txBody>
      </p:sp>
      <p:sp>
        <p:nvSpPr>
          <p:cNvPr id="15" name="Text 13"/>
          <p:cNvSpPr txBox="1"/>
          <p:nvPr/>
        </p:nvSpPr>
        <p:spPr>
          <a:xfrm>
            <a:off x="8375904" y="3246120"/>
            <a:ext cx="2953512" cy="1645920"/>
          </a:xfrm>
          <a:prstGeom prst="rect">
            <a:avLst/>
          </a:prstGeom>
          <a:noFill/>
          <a:ln/>
        </p:spPr>
        <p:txBody>
          <a:bodyPr wrap="square" lIns="0" tIns="0" rIns="0" bIns="0" rtlCol="0" anchor="ctr"/>
          <a:lstStyle/>
          <a:p>
            <a:pPr indent="0" marL="0">
              <a:lnSpc>
                <a:spcPct val="130000"/>
              </a:lnSpc>
              <a:buNone/>
            </a:pPr>
            <a:r>
              <a:rPr lang="en-US" sz="1350" dirty="0">
                <a:solidFill>
                  <a:srgbClr val="222222"/>
                </a:solidFill>
                <a:latin typeface="Calibri" pitchFamily="34" charset="0"/>
                <a:ea typeface="Calibri" pitchFamily="34" charset="-122"/>
                <a:cs typeface="Calibri" pitchFamily="34" charset="-120"/>
              </a:rPr>
              <a:t>Extra memory to store the LPS table, sized to the pattern length.</a:t>
            </a:r>
            <a:endParaRPr lang="en-US" sz="1350" dirty="0"/>
          </a:p>
        </p:txBody>
      </p:sp>
      <p:sp>
        <p:nvSpPr>
          <p:cNvPr id="16" name="Text 14"/>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17" name="Text 15"/>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300" b="1" spc="200" kern="0" dirty="0">
                <a:solidFill>
                  <a:srgbClr val="3F51B5"/>
                </a:solidFill>
                <a:latin typeface="Calibri" pitchFamily="34" charset="0"/>
                <a:ea typeface="Calibri" pitchFamily="34" charset="-122"/>
                <a:cs typeface="Calibri" pitchFamily="34" charset="-120"/>
              </a:rPr>
              <a:t>04  •  COMPARISON</a:t>
            </a:r>
            <a:endParaRPr lang="en-US" sz="1300" dirty="0"/>
          </a:p>
        </p:txBody>
      </p:sp>
      <p:sp>
        <p:nvSpPr>
          <p:cNvPr id="3" name="Text 1"/>
          <p:cNvSpPr txBox="1"/>
          <p:nvPr/>
        </p:nvSpPr>
        <p:spPr>
          <a:xfrm>
            <a:off x="548640" y="713232"/>
            <a:ext cx="1078992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Naive vs KMP, Side by Side</a:t>
            </a:r>
            <a:endParaRPr lang="en-US" sz="3200" dirty="0"/>
          </a:p>
        </p:txBody>
      </p:sp>
      <p:sp>
        <p:nvSpPr>
          <p:cNvPr id="4" name="Shape 2"/>
          <p:cNvSpPr/>
          <p:nvPr/>
        </p:nvSpPr>
        <p:spPr>
          <a:xfrm>
            <a:off x="548640" y="1600200"/>
            <a:ext cx="3017520" cy="685800"/>
          </a:xfrm>
          <a:prstGeom prst="rect">
            <a:avLst/>
          </a:prstGeom>
          <a:solidFill>
            <a:srgbClr val="1E2761"/>
          </a:solidFill>
          <a:ln w="9525">
            <a:solidFill>
              <a:srgbClr val="E4E7F2"/>
            </a:solidFill>
            <a:prstDash val="solid"/>
          </a:ln>
        </p:spPr>
      </p:sp>
      <p:sp>
        <p:nvSpPr>
          <p:cNvPr id="5" name="Text 3"/>
          <p:cNvSpPr txBox="1"/>
          <p:nvPr/>
        </p:nvSpPr>
        <p:spPr>
          <a:xfrm>
            <a:off x="731520" y="1600200"/>
            <a:ext cx="265176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p>
        </p:txBody>
      </p:sp>
      <p:sp>
        <p:nvSpPr>
          <p:cNvPr id="6" name="Shape 4"/>
          <p:cNvSpPr/>
          <p:nvPr/>
        </p:nvSpPr>
        <p:spPr>
          <a:xfrm>
            <a:off x="3566160" y="1600200"/>
            <a:ext cx="4023360" cy="685800"/>
          </a:xfrm>
          <a:prstGeom prst="rect">
            <a:avLst/>
          </a:prstGeom>
          <a:solidFill>
            <a:srgbClr val="1E2761"/>
          </a:solidFill>
          <a:ln w="9525">
            <a:solidFill>
              <a:srgbClr val="E4E7F2"/>
            </a:solidFill>
            <a:prstDash val="solid"/>
          </a:ln>
        </p:spPr>
      </p:sp>
      <p:sp>
        <p:nvSpPr>
          <p:cNvPr id="7" name="Text 5"/>
          <p:cNvSpPr txBox="1"/>
          <p:nvPr/>
        </p:nvSpPr>
        <p:spPr>
          <a:xfrm>
            <a:off x="3749040" y="1600200"/>
            <a:ext cx="36576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Naive Search</a:t>
            </a:r>
            <a:endParaRPr lang="en-US" sz="1400" dirty="0"/>
          </a:p>
        </p:txBody>
      </p:sp>
      <p:sp>
        <p:nvSpPr>
          <p:cNvPr id="8" name="Shape 6"/>
          <p:cNvSpPr/>
          <p:nvPr/>
        </p:nvSpPr>
        <p:spPr>
          <a:xfrm>
            <a:off x="7589520" y="1600200"/>
            <a:ext cx="4023360" cy="685800"/>
          </a:xfrm>
          <a:prstGeom prst="rect">
            <a:avLst/>
          </a:prstGeom>
          <a:solidFill>
            <a:srgbClr val="1E2761"/>
          </a:solidFill>
          <a:ln w="9525">
            <a:solidFill>
              <a:srgbClr val="E4E7F2"/>
            </a:solidFill>
            <a:prstDash val="solid"/>
          </a:ln>
        </p:spPr>
      </p:sp>
      <p:sp>
        <p:nvSpPr>
          <p:cNvPr id="9" name="Text 7"/>
          <p:cNvSpPr txBox="1"/>
          <p:nvPr/>
        </p:nvSpPr>
        <p:spPr>
          <a:xfrm>
            <a:off x="7772400" y="1600200"/>
            <a:ext cx="36576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KMP Search</a:t>
            </a:r>
            <a:endParaRPr lang="en-US" sz="1400" dirty="0"/>
          </a:p>
        </p:txBody>
      </p:sp>
      <p:sp>
        <p:nvSpPr>
          <p:cNvPr id="10" name="Shape 8"/>
          <p:cNvSpPr/>
          <p:nvPr/>
        </p:nvSpPr>
        <p:spPr>
          <a:xfrm>
            <a:off x="548640" y="2286000"/>
            <a:ext cx="3017520" cy="685800"/>
          </a:xfrm>
          <a:prstGeom prst="rect">
            <a:avLst/>
          </a:prstGeom>
          <a:solidFill>
            <a:srgbClr val="FFFFFF"/>
          </a:solidFill>
          <a:ln w="9525">
            <a:solidFill>
              <a:srgbClr val="E4E7F2"/>
            </a:solidFill>
            <a:prstDash val="solid"/>
          </a:ln>
        </p:spPr>
      </p:sp>
      <p:sp>
        <p:nvSpPr>
          <p:cNvPr id="11" name="Text 9"/>
          <p:cNvSpPr txBox="1"/>
          <p:nvPr/>
        </p:nvSpPr>
        <p:spPr>
          <a:xfrm>
            <a:off x="731520" y="2286000"/>
            <a:ext cx="2651760" cy="68580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Preprocessing</a:t>
            </a:r>
            <a:endParaRPr lang="en-US" sz="1350" dirty="0"/>
          </a:p>
        </p:txBody>
      </p:sp>
      <p:sp>
        <p:nvSpPr>
          <p:cNvPr id="12" name="Shape 10"/>
          <p:cNvSpPr/>
          <p:nvPr/>
        </p:nvSpPr>
        <p:spPr>
          <a:xfrm>
            <a:off x="3566160" y="2286000"/>
            <a:ext cx="4023360" cy="685800"/>
          </a:xfrm>
          <a:prstGeom prst="rect">
            <a:avLst/>
          </a:prstGeom>
          <a:solidFill>
            <a:srgbClr val="FFFFFF"/>
          </a:solidFill>
          <a:ln w="9525">
            <a:solidFill>
              <a:srgbClr val="E4E7F2"/>
            </a:solidFill>
            <a:prstDash val="solid"/>
          </a:ln>
        </p:spPr>
      </p:sp>
      <p:sp>
        <p:nvSpPr>
          <p:cNvPr id="13" name="Text 11"/>
          <p:cNvSpPr txBox="1"/>
          <p:nvPr/>
        </p:nvSpPr>
        <p:spPr>
          <a:xfrm>
            <a:off x="3749040" y="2286000"/>
            <a:ext cx="365760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None</a:t>
            </a:r>
            <a:endParaRPr lang="en-US" sz="1350" dirty="0"/>
          </a:p>
        </p:txBody>
      </p:sp>
      <p:sp>
        <p:nvSpPr>
          <p:cNvPr id="14" name="Shape 12"/>
          <p:cNvSpPr/>
          <p:nvPr/>
        </p:nvSpPr>
        <p:spPr>
          <a:xfrm>
            <a:off x="7589520" y="2286000"/>
            <a:ext cx="4023360" cy="685800"/>
          </a:xfrm>
          <a:prstGeom prst="rect">
            <a:avLst/>
          </a:prstGeom>
          <a:solidFill>
            <a:srgbClr val="FFFFFF"/>
          </a:solidFill>
          <a:ln w="9525">
            <a:solidFill>
              <a:srgbClr val="E4E7F2"/>
            </a:solidFill>
            <a:prstDash val="solid"/>
          </a:ln>
        </p:spPr>
      </p:sp>
      <p:sp>
        <p:nvSpPr>
          <p:cNvPr id="15" name="Text 13"/>
          <p:cNvSpPr txBox="1"/>
          <p:nvPr/>
        </p:nvSpPr>
        <p:spPr>
          <a:xfrm>
            <a:off x="7772400" y="2286000"/>
            <a:ext cx="3657600" cy="685800"/>
          </a:xfrm>
          <a:prstGeom prst="rect">
            <a:avLst/>
          </a:prstGeom>
          <a:noFill/>
          <a:ln/>
        </p:spPr>
        <p:txBody>
          <a:bodyPr wrap="square" lIns="0" tIns="0" rIns="0" bIns="0" rtlCol="0" anchor="ctr"/>
          <a:lstStyle/>
          <a:p>
            <a:pPr indent="0" marL="0">
              <a:buNone/>
            </a:pPr>
            <a:r>
              <a:rPr lang="en-US" sz="1350" dirty="0">
                <a:solidFill>
                  <a:srgbClr val="3F51B5"/>
                </a:solidFill>
                <a:latin typeface="Calibri" pitchFamily="34" charset="0"/>
                <a:ea typeface="Calibri" pitchFamily="34" charset="-122"/>
                <a:cs typeface="Calibri" pitchFamily="34" charset="-120"/>
              </a:rPr>
              <a:t>O(m) — builds LPS table</a:t>
            </a:r>
            <a:endParaRPr lang="en-US" sz="1350" dirty="0"/>
          </a:p>
        </p:txBody>
      </p:sp>
      <p:sp>
        <p:nvSpPr>
          <p:cNvPr id="16" name="Shape 14"/>
          <p:cNvSpPr/>
          <p:nvPr/>
        </p:nvSpPr>
        <p:spPr>
          <a:xfrm>
            <a:off x="548640" y="2971800"/>
            <a:ext cx="3017520" cy="685800"/>
          </a:xfrm>
          <a:prstGeom prst="rect">
            <a:avLst/>
          </a:prstGeom>
          <a:solidFill>
            <a:srgbClr val="F3F5FC"/>
          </a:solidFill>
          <a:ln w="9525">
            <a:solidFill>
              <a:srgbClr val="E4E7F2"/>
            </a:solidFill>
            <a:prstDash val="solid"/>
          </a:ln>
        </p:spPr>
      </p:sp>
      <p:sp>
        <p:nvSpPr>
          <p:cNvPr id="17" name="Text 15"/>
          <p:cNvSpPr txBox="1"/>
          <p:nvPr/>
        </p:nvSpPr>
        <p:spPr>
          <a:xfrm>
            <a:off x="731520" y="2971800"/>
            <a:ext cx="2651760" cy="68580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Worst-case time</a:t>
            </a:r>
            <a:endParaRPr lang="en-US" sz="1350" dirty="0"/>
          </a:p>
        </p:txBody>
      </p:sp>
      <p:sp>
        <p:nvSpPr>
          <p:cNvPr id="18" name="Shape 16"/>
          <p:cNvSpPr/>
          <p:nvPr/>
        </p:nvSpPr>
        <p:spPr>
          <a:xfrm>
            <a:off x="3566160" y="2971800"/>
            <a:ext cx="4023360" cy="685800"/>
          </a:xfrm>
          <a:prstGeom prst="rect">
            <a:avLst/>
          </a:prstGeom>
          <a:solidFill>
            <a:srgbClr val="F3F5FC"/>
          </a:solidFill>
          <a:ln w="9525">
            <a:solidFill>
              <a:srgbClr val="E4E7F2"/>
            </a:solidFill>
            <a:prstDash val="solid"/>
          </a:ln>
        </p:spPr>
      </p:sp>
      <p:sp>
        <p:nvSpPr>
          <p:cNvPr id="19" name="Text 17"/>
          <p:cNvSpPr txBox="1"/>
          <p:nvPr/>
        </p:nvSpPr>
        <p:spPr>
          <a:xfrm>
            <a:off x="3749040" y="2971800"/>
            <a:ext cx="365760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O(n × m)</a:t>
            </a:r>
            <a:endParaRPr lang="en-US" sz="1350" dirty="0"/>
          </a:p>
        </p:txBody>
      </p:sp>
      <p:sp>
        <p:nvSpPr>
          <p:cNvPr id="20" name="Shape 18"/>
          <p:cNvSpPr/>
          <p:nvPr/>
        </p:nvSpPr>
        <p:spPr>
          <a:xfrm>
            <a:off x="7589520" y="2971800"/>
            <a:ext cx="4023360" cy="685800"/>
          </a:xfrm>
          <a:prstGeom prst="rect">
            <a:avLst/>
          </a:prstGeom>
          <a:solidFill>
            <a:srgbClr val="F3F5FC"/>
          </a:solidFill>
          <a:ln w="9525">
            <a:solidFill>
              <a:srgbClr val="E4E7F2"/>
            </a:solidFill>
            <a:prstDash val="solid"/>
          </a:ln>
        </p:spPr>
      </p:sp>
      <p:sp>
        <p:nvSpPr>
          <p:cNvPr id="21" name="Text 19"/>
          <p:cNvSpPr txBox="1"/>
          <p:nvPr/>
        </p:nvSpPr>
        <p:spPr>
          <a:xfrm>
            <a:off x="7772400" y="2971800"/>
            <a:ext cx="3657600" cy="685800"/>
          </a:xfrm>
          <a:prstGeom prst="rect">
            <a:avLst/>
          </a:prstGeom>
          <a:noFill/>
          <a:ln/>
        </p:spPr>
        <p:txBody>
          <a:bodyPr wrap="square" lIns="0" tIns="0" rIns="0" bIns="0" rtlCol="0" anchor="ctr"/>
          <a:lstStyle/>
          <a:p>
            <a:pPr indent="0" marL="0">
              <a:buNone/>
            </a:pPr>
            <a:r>
              <a:rPr lang="en-US" sz="1350" dirty="0">
                <a:solidFill>
                  <a:srgbClr val="3F51B5"/>
                </a:solidFill>
                <a:latin typeface="Calibri" pitchFamily="34" charset="0"/>
                <a:ea typeface="Calibri" pitchFamily="34" charset="-122"/>
                <a:cs typeface="Calibri" pitchFamily="34" charset="-120"/>
              </a:rPr>
              <a:t>O(n + m)</a:t>
            </a:r>
            <a:endParaRPr lang="en-US" sz="1350" dirty="0"/>
          </a:p>
        </p:txBody>
      </p:sp>
      <p:sp>
        <p:nvSpPr>
          <p:cNvPr id="22" name="Shape 20"/>
          <p:cNvSpPr/>
          <p:nvPr/>
        </p:nvSpPr>
        <p:spPr>
          <a:xfrm>
            <a:off x="548640" y="3657600"/>
            <a:ext cx="3017520" cy="685800"/>
          </a:xfrm>
          <a:prstGeom prst="rect">
            <a:avLst/>
          </a:prstGeom>
          <a:solidFill>
            <a:srgbClr val="FFFFFF"/>
          </a:solidFill>
          <a:ln w="9525">
            <a:solidFill>
              <a:srgbClr val="E4E7F2"/>
            </a:solidFill>
            <a:prstDash val="solid"/>
          </a:ln>
        </p:spPr>
      </p:sp>
      <p:sp>
        <p:nvSpPr>
          <p:cNvPr id="23" name="Text 21"/>
          <p:cNvSpPr txBox="1"/>
          <p:nvPr/>
        </p:nvSpPr>
        <p:spPr>
          <a:xfrm>
            <a:off x="731520" y="3657600"/>
            <a:ext cx="2651760" cy="68580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Text pointer</a:t>
            </a:r>
            <a:endParaRPr lang="en-US" sz="1350" dirty="0"/>
          </a:p>
        </p:txBody>
      </p:sp>
      <p:sp>
        <p:nvSpPr>
          <p:cNvPr id="24" name="Shape 22"/>
          <p:cNvSpPr/>
          <p:nvPr/>
        </p:nvSpPr>
        <p:spPr>
          <a:xfrm>
            <a:off x="3566160" y="3657600"/>
            <a:ext cx="4023360" cy="685800"/>
          </a:xfrm>
          <a:prstGeom prst="rect">
            <a:avLst/>
          </a:prstGeom>
          <a:solidFill>
            <a:srgbClr val="FFFFFF"/>
          </a:solidFill>
          <a:ln w="9525">
            <a:solidFill>
              <a:srgbClr val="E4E7F2"/>
            </a:solidFill>
            <a:prstDash val="solid"/>
          </a:ln>
        </p:spPr>
      </p:sp>
      <p:sp>
        <p:nvSpPr>
          <p:cNvPr id="25" name="Text 23"/>
          <p:cNvSpPr txBox="1"/>
          <p:nvPr/>
        </p:nvSpPr>
        <p:spPr>
          <a:xfrm>
            <a:off x="3749040" y="3657600"/>
            <a:ext cx="365760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Backtracks</a:t>
            </a:r>
            <a:endParaRPr lang="en-US" sz="1350" dirty="0"/>
          </a:p>
        </p:txBody>
      </p:sp>
      <p:sp>
        <p:nvSpPr>
          <p:cNvPr id="26" name="Shape 24"/>
          <p:cNvSpPr/>
          <p:nvPr/>
        </p:nvSpPr>
        <p:spPr>
          <a:xfrm>
            <a:off x="7589520" y="3657600"/>
            <a:ext cx="4023360" cy="685800"/>
          </a:xfrm>
          <a:prstGeom prst="rect">
            <a:avLst/>
          </a:prstGeom>
          <a:solidFill>
            <a:srgbClr val="FFFFFF"/>
          </a:solidFill>
          <a:ln w="9525">
            <a:solidFill>
              <a:srgbClr val="E4E7F2"/>
            </a:solidFill>
            <a:prstDash val="solid"/>
          </a:ln>
        </p:spPr>
      </p:sp>
      <p:sp>
        <p:nvSpPr>
          <p:cNvPr id="27" name="Text 25"/>
          <p:cNvSpPr txBox="1"/>
          <p:nvPr/>
        </p:nvSpPr>
        <p:spPr>
          <a:xfrm>
            <a:off x="7772400" y="3657600"/>
            <a:ext cx="3657600" cy="685800"/>
          </a:xfrm>
          <a:prstGeom prst="rect">
            <a:avLst/>
          </a:prstGeom>
          <a:noFill/>
          <a:ln/>
        </p:spPr>
        <p:txBody>
          <a:bodyPr wrap="square" lIns="0" tIns="0" rIns="0" bIns="0" rtlCol="0" anchor="ctr"/>
          <a:lstStyle/>
          <a:p>
            <a:pPr indent="0" marL="0">
              <a:buNone/>
            </a:pPr>
            <a:r>
              <a:rPr lang="en-US" sz="1350" dirty="0">
                <a:solidFill>
                  <a:srgbClr val="3F51B5"/>
                </a:solidFill>
                <a:latin typeface="Calibri" pitchFamily="34" charset="0"/>
                <a:ea typeface="Calibri" pitchFamily="34" charset="-122"/>
                <a:cs typeface="Calibri" pitchFamily="34" charset="-120"/>
              </a:rPr>
              <a:t>Never backtracks</a:t>
            </a:r>
            <a:endParaRPr lang="en-US" sz="1350" dirty="0"/>
          </a:p>
        </p:txBody>
      </p:sp>
      <p:sp>
        <p:nvSpPr>
          <p:cNvPr id="28" name="Shape 26"/>
          <p:cNvSpPr/>
          <p:nvPr/>
        </p:nvSpPr>
        <p:spPr>
          <a:xfrm>
            <a:off x="548640" y="4343400"/>
            <a:ext cx="3017520" cy="685800"/>
          </a:xfrm>
          <a:prstGeom prst="rect">
            <a:avLst/>
          </a:prstGeom>
          <a:solidFill>
            <a:srgbClr val="F3F5FC"/>
          </a:solidFill>
          <a:ln w="9525">
            <a:solidFill>
              <a:srgbClr val="E4E7F2"/>
            </a:solidFill>
            <a:prstDash val="solid"/>
          </a:ln>
        </p:spPr>
      </p:sp>
      <p:sp>
        <p:nvSpPr>
          <p:cNvPr id="29" name="Text 27"/>
          <p:cNvSpPr txBox="1"/>
          <p:nvPr/>
        </p:nvSpPr>
        <p:spPr>
          <a:xfrm>
            <a:off x="731520" y="4343400"/>
            <a:ext cx="2651760" cy="68580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Extra space</a:t>
            </a:r>
            <a:endParaRPr lang="en-US" sz="1350" dirty="0"/>
          </a:p>
        </p:txBody>
      </p:sp>
      <p:sp>
        <p:nvSpPr>
          <p:cNvPr id="30" name="Shape 28"/>
          <p:cNvSpPr/>
          <p:nvPr/>
        </p:nvSpPr>
        <p:spPr>
          <a:xfrm>
            <a:off x="3566160" y="4343400"/>
            <a:ext cx="4023360" cy="685800"/>
          </a:xfrm>
          <a:prstGeom prst="rect">
            <a:avLst/>
          </a:prstGeom>
          <a:solidFill>
            <a:srgbClr val="F3F5FC"/>
          </a:solidFill>
          <a:ln w="9525">
            <a:solidFill>
              <a:srgbClr val="E4E7F2"/>
            </a:solidFill>
            <a:prstDash val="solid"/>
          </a:ln>
        </p:spPr>
      </p:sp>
      <p:sp>
        <p:nvSpPr>
          <p:cNvPr id="31" name="Text 29"/>
          <p:cNvSpPr txBox="1"/>
          <p:nvPr/>
        </p:nvSpPr>
        <p:spPr>
          <a:xfrm>
            <a:off x="3749040" y="4343400"/>
            <a:ext cx="365760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O(1)</a:t>
            </a:r>
            <a:endParaRPr lang="en-US" sz="1350" dirty="0"/>
          </a:p>
        </p:txBody>
      </p:sp>
      <p:sp>
        <p:nvSpPr>
          <p:cNvPr id="32" name="Shape 30"/>
          <p:cNvSpPr/>
          <p:nvPr/>
        </p:nvSpPr>
        <p:spPr>
          <a:xfrm>
            <a:off x="7589520" y="4343400"/>
            <a:ext cx="4023360" cy="685800"/>
          </a:xfrm>
          <a:prstGeom prst="rect">
            <a:avLst/>
          </a:prstGeom>
          <a:solidFill>
            <a:srgbClr val="F3F5FC"/>
          </a:solidFill>
          <a:ln w="9525">
            <a:solidFill>
              <a:srgbClr val="E4E7F2"/>
            </a:solidFill>
            <a:prstDash val="solid"/>
          </a:ln>
        </p:spPr>
      </p:sp>
      <p:sp>
        <p:nvSpPr>
          <p:cNvPr id="33" name="Text 31"/>
          <p:cNvSpPr txBox="1"/>
          <p:nvPr/>
        </p:nvSpPr>
        <p:spPr>
          <a:xfrm>
            <a:off x="7772400" y="4343400"/>
            <a:ext cx="3657600" cy="685800"/>
          </a:xfrm>
          <a:prstGeom prst="rect">
            <a:avLst/>
          </a:prstGeom>
          <a:noFill/>
          <a:ln/>
        </p:spPr>
        <p:txBody>
          <a:bodyPr wrap="square" lIns="0" tIns="0" rIns="0" bIns="0" rtlCol="0" anchor="ctr"/>
          <a:lstStyle/>
          <a:p>
            <a:pPr indent="0" marL="0">
              <a:buNone/>
            </a:pPr>
            <a:r>
              <a:rPr lang="en-US" sz="1350" dirty="0">
                <a:solidFill>
                  <a:srgbClr val="3F51B5"/>
                </a:solidFill>
                <a:latin typeface="Calibri" pitchFamily="34" charset="0"/>
                <a:ea typeface="Calibri" pitchFamily="34" charset="-122"/>
                <a:cs typeface="Calibri" pitchFamily="34" charset="-120"/>
              </a:rPr>
              <a:t>O(m)</a:t>
            </a:r>
            <a:endParaRPr lang="en-US" sz="1350" dirty="0"/>
          </a:p>
        </p:txBody>
      </p:sp>
      <p:sp>
        <p:nvSpPr>
          <p:cNvPr id="34" name="Shape 32"/>
          <p:cNvSpPr/>
          <p:nvPr/>
        </p:nvSpPr>
        <p:spPr>
          <a:xfrm>
            <a:off x="548640" y="5029200"/>
            <a:ext cx="3017520" cy="685800"/>
          </a:xfrm>
          <a:prstGeom prst="rect">
            <a:avLst/>
          </a:prstGeom>
          <a:solidFill>
            <a:srgbClr val="FFFFFF"/>
          </a:solidFill>
          <a:ln w="9525">
            <a:solidFill>
              <a:srgbClr val="E4E7F2"/>
            </a:solidFill>
            <a:prstDash val="solid"/>
          </a:ln>
        </p:spPr>
      </p:sp>
      <p:sp>
        <p:nvSpPr>
          <p:cNvPr id="35" name="Text 33"/>
          <p:cNvSpPr txBox="1"/>
          <p:nvPr/>
        </p:nvSpPr>
        <p:spPr>
          <a:xfrm>
            <a:off x="731520" y="5029200"/>
            <a:ext cx="2651760" cy="68580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Best for</a:t>
            </a:r>
            <a:endParaRPr lang="en-US" sz="1350" dirty="0"/>
          </a:p>
        </p:txBody>
      </p:sp>
      <p:sp>
        <p:nvSpPr>
          <p:cNvPr id="36" name="Shape 34"/>
          <p:cNvSpPr/>
          <p:nvPr/>
        </p:nvSpPr>
        <p:spPr>
          <a:xfrm>
            <a:off x="3566160" y="5029200"/>
            <a:ext cx="4023360" cy="685800"/>
          </a:xfrm>
          <a:prstGeom prst="rect">
            <a:avLst/>
          </a:prstGeom>
          <a:solidFill>
            <a:srgbClr val="FFFFFF"/>
          </a:solidFill>
          <a:ln w="9525">
            <a:solidFill>
              <a:srgbClr val="E4E7F2"/>
            </a:solidFill>
            <a:prstDash val="solid"/>
          </a:ln>
        </p:spPr>
      </p:sp>
      <p:sp>
        <p:nvSpPr>
          <p:cNvPr id="37" name="Text 35"/>
          <p:cNvSpPr txBox="1"/>
          <p:nvPr/>
        </p:nvSpPr>
        <p:spPr>
          <a:xfrm>
            <a:off x="3749040" y="5029200"/>
            <a:ext cx="3657600" cy="68580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Small files, short patterns</a:t>
            </a:r>
            <a:endParaRPr lang="en-US" sz="1350" dirty="0"/>
          </a:p>
        </p:txBody>
      </p:sp>
      <p:sp>
        <p:nvSpPr>
          <p:cNvPr id="38" name="Shape 36"/>
          <p:cNvSpPr/>
          <p:nvPr/>
        </p:nvSpPr>
        <p:spPr>
          <a:xfrm>
            <a:off x="7589520" y="5029200"/>
            <a:ext cx="4023360" cy="685800"/>
          </a:xfrm>
          <a:prstGeom prst="rect">
            <a:avLst/>
          </a:prstGeom>
          <a:solidFill>
            <a:srgbClr val="FFFFFF"/>
          </a:solidFill>
          <a:ln w="9525">
            <a:solidFill>
              <a:srgbClr val="E4E7F2"/>
            </a:solidFill>
            <a:prstDash val="solid"/>
          </a:ln>
        </p:spPr>
      </p:sp>
      <p:sp>
        <p:nvSpPr>
          <p:cNvPr id="39" name="Text 37"/>
          <p:cNvSpPr txBox="1"/>
          <p:nvPr/>
        </p:nvSpPr>
        <p:spPr>
          <a:xfrm>
            <a:off x="7772400" y="5029200"/>
            <a:ext cx="3657600" cy="685800"/>
          </a:xfrm>
          <a:prstGeom prst="rect">
            <a:avLst/>
          </a:prstGeom>
          <a:noFill/>
          <a:ln/>
        </p:spPr>
        <p:txBody>
          <a:bodyPr wrap="square" lIns="0" tIns="0" rIns="0" bIns="0" rtlCol="0" anchor="ctr"/>
          <a:lstStyle/>
          <a:p>
            <a:pPr indent="0" marL="0">
              <a:buNone/>
            </a:pPr>
            <a:r>
              <a:rPr lang="en-US" sz="1350" dirty="0">
                <a:solidFill>
                  <a:srgbClr val="3F51B5"/>
                </a:solidFill>
                <a:latin typeface="Calibri" pitchFamily="34" charset="0"/>
                <a:ea typeface="Calibri" pitchFamily="34" charset="-122"/>
                <a:cs typeface="Calibri" pitchFamily="34" charset="-120"/>
              </a:rPr>
              <a:t>Large logs, continuous streams</a:t>
            </a:r>
            <a:endParaRPr lang="en-US" sz="1350" dirty="0"/>
          </a:p>
        </p:txBody>
      </p:sp>
      <p:sp>
        <p:nvSpPr>
          <p:cNvPr id="40" name="Text 38"/>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5A5F73"/>
                </a:solidFill>
                <a:latin typeface="Calibri" pitchFamily="34" charset="0"/>
                <a:ea typeface="Calibri" pitchFamily="34" charset="-122"/>
                <a:cs typeface="Calibri" pitchFamily="34" charset="-120"/>
              </a:rPr>
              <a:t>Naive vs KMP String Search</a:t>
            </a:r>
            <a:endParaRPr lang="en-US" sz="1000" dirty="0"/>
          </a:p>
        </p:txBody>
      </p:sp>
      <p:sp>
        <p:nvSpPr>
          <p:cNvPr id="41" name="Text 39"/>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5A5F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4389120"/>
            <a:ext cx="3840480" cy="3840480"/>
          </a:xfrm>
          <a:prstGeom prst="ellipse">
            <a:avLst/>
          </a:prstGeom>
          <a:solidFill>
            <a:srgbClr val="3F51B5">
              <a:alpha val="25000"/>
            </a:srgbClr>
          </a:solidFill>
          <a:ln/>
        </p:spPr>
      </p:sp>
      <p:sp>
        <p:nvSpPr>
          <p:cNvPr id="3" name="Text 1"/>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05  •  CONCLUSION</a:t>
            </a:r>
            <a:endParaRPr lang="en-US" sz="1300" dirty="0"/>
          </a:p>
        </p:txBody>
      </p:sp>
      <p:sp>
        <p:nvSpPr>
          <p:cNvPr id="4" name="Text 2"/>
          <p:cNvSpPr txBox="1"/>
          <p:nvPr/>
        </p:nvSpPr>
        <p:spPr>
          <a:xfrm>
            <a:off x="548640" y="82296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Which One Should You Choose?</a:t>
            </a:r>
            <a:endParaRPr lang="en-US" sz="3000" dirty="0"/>
          </a:p>
        </p:txBody>
      </p:sp>
      <p:sp>
        <p:nvSpPr>
          <p:cNvPr id="5" name="Shape 3"/>
          <p:cNvSpPr/>
          <p:nvPr/>
        </p:nvSpPr>
        <p:spPr>
          <a:xfrm>
            <a:off x="548640" y="1828800"/>
            <a:ext cx="5349240" cy="4206240"/>
          </a:xfrm>
          <a:prstGeom prst="roundRect">
            <a:avLst>
              <a:gd name="adj" fmla="val 2609"/>
            </a:avLst>
          </a:prstGeom>
          <a:solidFill>
            <a:srgbClr val="262E6E"/>
          </a:solidFill>
          <a:ln/>
        </p:spPr>
      </p:sp>
      <p:sp>
        <p:nvSpPr>
          <p:cNvPr id="6" name="Text 4"/>
          <p:cNvSpPr txBox="1"/>
          <p:nvPr/>
        </p:nvSpPr>
        <p:spPr>
          <a:xfrm>
            <a:off x="914400" y="2194560"/>
            <a:ext cx="461772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Choose Naive when</a:t>
            </a:r>
            <a:endParaRPr lang="en-US" sz="2000" dirty="0"/>
          </a:p>
        </p:txBody>
      </p:sp>
      <p:sp>
        <p:nvSpPr>
          <p:cNvPr id="7" name="Shape 5"/>
          <p:cNvSpPr/>
          <p:nvPr/>
        </p:nvSpPr>
        <p:spPr>
          <a:xfrm>
            <a:off x="914400" y="2880360"/>
            <a:ext cx="146304" cy="146304"/>
          </a:xfrm>
          <a:prstGeom prst="ellipse">
            <a:avLst/>
          </a:prstGeom>
          <a:solidFill>
            <a:srgbClr val="FFFFFF"/>
          </a:solidFill>
          <a:ln/>
        </p:spPr>
      </p:sp>
      <p:sp>
        <p:nvSpPr>
          <p:cNvPr id="8" name="Text 6"/>
          <p:cNvSpPr txBox="1"/>
          <p:nvPr/>
        </p:nvSpPr>
        <p:spPr>
          <a:xfrm>
            <a:off x="1234440" y="271576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Searching small text files or short strings</a:t>
            </a:r>
            <a:endParaRPr lang="en-US" sz="1450" dirty="0"/>
          </a:p>
        </p:txBody>
      </p:sp>
      <p:sp>
        <p:nvSpPr>
          <p:cNvPr id="9" name="Shape 7"/>
          <p:cNvSpPr/>
          <p:nvPr/>
        </p:nvSpPr>
        <p:spPr>
          <a:xfrm>
            <a:off x="914400" y="3840480"/>
            <a:ext cx="146304" cy="146304"/>
          </a:xfrm>
          <a:prstGeom prst="ellipse">
            <a:avLst/>
          </a:prstGeom>
          <a:solidFill>
            <a:srgbClr val="FFFFFF"/>
          </a:solidFill>
          <a:ln/>
        </p:spPr>
      </p:sp>
      <p:sp>
        <p:nvSpPr>
          <p:cNvPr id="10" name="Text 8"/>
          <p:cNvSpPr txBox="1"/>
          <p:nvPr/>
        </p:nvSpPr>
        <p:spPr>
          <a:xfrm>
            <a:off x="1234440" y="367588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Writing a quick ad-hoc script, not a system</a:t>
            </a:r>
            <a:endParaRPr lang="en-US" sz="1450" dirty="0"/>
          </a:p>
        </p:txBody>
      </p:sp>
      <p:sp>
        <p:nvSpPr>
          <p:cNvPr id="11" name="Shape 9"/>
          <p:cNvSpPr/>
          <p:nvPr/>
        </p:nvSpPr>
        <p:spPr>
          <a:xfrm>
            <a:off x="914400" y="4800600"/>
            <a:ext cx="146304" cy="146304"/>
          </a:xfrm>
          <a:prstGeom prst="ellipse">
            <a:avLst/>
          </a:prstGeom>
          <a:solidFill>
            <a:srgbClr val="FFFFFF"/>
          </a:solidFill>
          <a:ln/>
        </p:spPr>
      </p:sp>
      <p:sp>
        <p:nvSpPr>
          <p:cNvPr id="12" name="Text 10"/>
          <p:cNvSpPr txBox="1"/>
          <p:nvPr/>
        </p:nvSpPr>
        <p:spPr>
          <a:xfrm>
            <a:off x="1234440" y="463600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You need strictly O(1) extra memory</a:t>
            </a:r>
            <a:endParaRPr lang="en-US" sz="1450" dirty="0"/>
          </a:p>
        </p:txBody>
      </p:sp>
      <p:sp>
        <p:nvSpPr>
          <p:cNvPr id="13" name="Shape 11"/>
          <p:cNvSpPr/>
          <p:nvPr/>
        </p:nvSpPr>
        <p:spPr>
          <a:xfrm>
            <a:off x="6263640" y="1828800"/>
            <a:ext cx="5349240" cy="4206240"/>
          </a:xfrm>
          <a:prstGeom prst="roundRect">
            <a:avLst>
              <a:gd name="adj" fmla="val 2609"/>
            </a:avLst>
          </a:prstGeom>
          <a:solidFill>
            <a:srgbClr val="3F51B5"/>
          </a:solidFill>
          <a:ln/>
        </p:spPr>
      </p:sp>
      <p:sp>
        <p:nvSpPr>
          <p:cNvPr id="14" name="Text 12"/>
          <p:cNvSpPr txBox="1"/>
          <p:nvPr/>
        </p:nvSpPr>
        <p:spPr>
          <a:xfrm>
            <a:off x="6629400" y="2194560"/>
            <a:ext cx="461772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Choose KMP when</a:t>
            </a:r>
            <a:endParaRPr lang="en-US" sz="2000" dirty="0"/>
          </a:p>
        </p:txBody>
      </p:sp>
      <p:sp>
        <p:nvSpPr>
          <p:cNvPr id="15" name="Shape 13"/>
          <p:cNvSpPr/>
          <p:nvPr/>
        </p:nvSpPr>
        <p:spPr>
          <a:xfrm>
            <a:off x="6629400" y="2880360"/>
            <a:ext cx="146304" cy="146304"/>
          </a:xfrm>
          <a:prstGeom prst="ellipse">
            <a:avLst/>
          </a:prstGeom>
          <a:solidFill>
            <a:srgbClr val="FFFFFF"/>
          </a:solidFill>
          <a:ln/>
        </p:spPr>
      </p:sp>
      <p:sp>
        <p:nvSpPr>
          <p:cNvPr id="16" name="Text 14"/>
          <p:cNvSpPr txBox="1"/>
          <p:nvPr/>
        </p:nvSpPr>
        <p:spPr>
          <a:xfrm>
            <a:off x="6949440" y="271576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Searching gigabyte-scale log streams</a:t>
            </a:r>
            <a:endParaRPr lang="en-US" sz="1450" dirty="0"/>
          </a:p>
        </p:txBody>
      </p:sp>
      <p:sp>
        <p:nvSpPr>
          <p:cNvPr id="17" name="Shape 15"/>
          <p:cNvSpPr/>
          <p:nvPr/>
        </p:nvSpPr>
        <p:spPr>
          <a:xfrm>
            <a:off x="6629400" y="3840480"/>
            <a:ext cx="146304" cy="146304"/>
          </a:xfrm>
          <a:prstGeom prst="ellipse">
            <a:avLst/>
          </a:prstGeom>
          <a:solidFill>
            <a:srgbClr val="FFFFFF"/>
          </a:solidFill>
          <a:ln/>
        </p:spPr>
      </p:sp>
      <p:sp>
        <p:nvSpPr>
          <p:cNvPr id="18" name="Text 16"/>
          <p:cNvSpPr txBox="1"/>
          <p:nvPr/>
        </p:nvSpPr>
        <p:spPr>
          <a:xfrm>
            <a:off x="6949440" y="367588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The pattern repeats often within itself</a:t>
            </a:r>
            <a:endParaRPr lang="en-US" sz="1450" dirty="0"/>
          </a:p>
        </p:txBody>
      </p:sp>
      <p:sp>
        <p:nvSpPr>
          <p:cNvPr id="19" name="Shape 17"/>
          <p:cNvSpPr/>
          <p:nvPr/>
        </p:nvSpPr>
        <p:spPr>
          <a:xfrm>
            <a:off x="6629400" y="4800600"/>
            <a:ext cx="146304" cy="146304"/>
          </a:xfrm>
          <a:prstGeom prst="ellipse">
            <a:avLst/>
          </a:prstGeom>
          <a:solidFill>
            <a:srgbClr val="FFFFFF"/>
          </a:solidFill>
          <a:ln/>
        </p:spPr>
      </p:sp>
      <p:sp>
        <p:nvSpPr>
          <p:cNvPr id="20" name="Text 18"/>
          <p:cNvSpPr txBox="1"/>
          <p:nvPr/>
        </p:nvSpPr>
        <p:spPr>
          <a:xfrm>
            <a:off x="6949440" y="4636008"/>
            <a:ext cx="429768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You need a guaranteed linear-time bound</a:t>
            </a:r>
            <a:endParaRPr lang="en-US" sz="145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Naive vs KMP String Search</a:t>
            </a:r>
            <a:endParaRPr lang="en-US" sz="1000" dirty="0"/>
          </a:p>
        </p:txBody>
      </p:sp>
      <p:sp>
        <p:nvSpPr>
          <p:cNvPr id="22" name="Text 20"/>
          <p:cNvSpPr txBox="1"/>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2026-09-25T06:09:07Z</dcterms:created>
  <dcterms:modified xsi:type="dcterms:W3CDTF">2026-09-25T06:09:07Z</dcterms:modified>
</cp:coreProperties>
</file>